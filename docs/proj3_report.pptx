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663" r:id="rId2"/>
    <p:sldMasterId id="2147483664" r:id="rId3"/>
    <p:sldMasterId id="2147483665"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4B237E-7425-48C3-BFFF-0002C024C5BE}">
  <a:tblStyle styleId="{CB4B237E-7425-48C3-BFFF-0002C024C5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188" autoAdjust="0"/>
    <p:restoredTop sz="94648"/>
  </p:normalViewPr>
  <p:slideViewPr>
    <p:cSldViewPr snapToGrid="0">
      <p:cViewPr>
        <p:scale>
          <a:sx n="100" d="100"/>
          <a:sy n="100" d="100"/>
        </p:scale>
        <p:origin x="852" y="-27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39b1938f78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g339b1938f78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39b1938f78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g339b1938f78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9b1938f78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g339b1938f78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9b1938f78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339b1938f78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39b1938f78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g339b1938f78_2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39b1938f78_2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339b1938f78_2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9b1938f78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339b1938f78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39b1938f78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39b1938f78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39b1938f78_2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g339b1938f78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39b1938f78_2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39b1938f78_2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9b1938f78_2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g339b1938f78_2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9b1938f78_2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339b1938f78_2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39b1938f78_2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39b1938f78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39b1938f78_2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39b1938f78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subTitle" idx="1"/>
          </p:nvPr>
        </p:nvSpPr>
        <p:spPr>
          <a:xfrm>
            <a:off x="311760" y="1152360"/>
            <a:ext cx="8520120" cy="34160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7" name="Google Shape;57;p14"/>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TWO_COLUMNS" type="twoObj">
  <p:cSld name="TWO_OBJECTS">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6"/>
          <p:cNvSpPr txBox="1">
            <a:spLocks noGrp="1"/>
          </p:cNvSpPr>
          <p:nvPr>
            <p:ph type="body" idx="1"/>
          </p:nvPr>
        </p:nvSpPr>
        <p:spPr>
          <a:xfrm>
            <a:off x="311760" y="1152360"/>
            <a:ext cx="415764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6"/>
          <p:cNvSpPr txBox="1">
            <a:spLocks noGrp="1"/>
          </p:cNvSpPr>
          <p:nvPr>
            <p:ph type="body" idx="2"/>
          </p:nvPr>
        </p:nvSpPr>
        <p:spPr>
          <a:xfrm>
            <a:off x="4677840" y="1152360"/>
            <a:ext cx="415764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6"/>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60" y="444960"/>
            <a:ext cx="8520120" cy="5724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a:off x="311760" y="1152360"/>
            <a:ext cx="8520120" cy="34160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8"/>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lvl="1"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lvl="2"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lvl="3"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lvl="4"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lvl="5"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lvl="6"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lvl="7"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lvl="8" indent="0" algn="r">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60" y="744480"/>
            <a:ext cx="8520120" cy="205236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
        <p:nvSpPr>
          <p:cNvPr id="53" name="Google Shape;53;p13"/>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5"/>
          <p:cNvSpPr txBox="1">
            <a:spLocks noGrp="1"/>
          </p:cNvSpPr>
          <p:nvPr>
            <p:ph type="body" idx="1"/>
          </p:nvPr>
        </p:nvSpPr>
        <p:spPr>
          <a:xfrm>
            <a:off x="311760" y="1152360"/>
            <a:ext cx="399960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1" name="Google Shape;61;p15"/>
          <p:cNvSpPr txBox="1">
            <a:spLocks noGrp="1"/>
          </p:cNvSpPr>
          <p:nvPr>
            <p:ph type="body" idx="2"/>
          </p:nvPr>
        </p:nvSpPr>
        <p:spPr>
          <a:xfrm>
            <a:off x="4832280" y="1152360"/>
            <a:ext cx="399960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15"/>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60" y="444960"/>
            <a:ext cx="8520120" cy="57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7"/>
          <p:cNvSpPr txBox="1">
            <a:spLocks noGrp="1"/>
          </p:cNvSpPr>
          <p:nvPr>
            <p:ph type="body" idx="1"/>
          </p:nvPr>
        </p:nvSpPr>
        <p:spPr>
          <a:xfrm>
            <a:off x="311760" y="1152360"/>
            <a:ext cx="8520120" cy="341604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1" name="Google Shape;71;p17"/>
          <p:cNvSpPr txBox="1">
            <a:spLocks noGrp="1"/>
          </p:cNvSpPr>
          <p:nvPr>
            <p:ph type="sldNum" idx="12"/>
          </p:nvPr>
        </p:nvSpPr>
        <p:spPr>
          <a:xfrm>
            <a:off x="8472600" y="4663080"/>
            <a:ext cx="548280" cy="39312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1pPr>
            <a:lvl2pPr marL="0" marR="0" lvl="1"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2pPr>
            <a:lvl3pPr marL="0" marR="0" lvl="2"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3pPr>
            <a:lvl4pPr marL="0" marR="0" lvl="3"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4pPr>
            <a:lvl5pPr marL="0" marR="0" lvl="4"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5pPr>
            <a:lvl6pPr marL="0" marR="0" lvl="5"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6pPr>
            <a:lvl7pPr marL="0" marR="0" lvl="6"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7pPr>
            <a:lvl8pPr marL="0" marR="0" lvl="7"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8pPr>
            <a:lvl9pPr marL="0" marR="0" lvl="8" indent="0" algn="r" rtl="0">
              <a:lnSpc>
                <a:spcPct val="100000"/>
              </a:lnSpc>
              <a:spcBef>
                <a:spcPts val="0"/>
              </a:spcBef>
              <a:buClr>
                <a:schemeClr val="dk2"/>
              </a:buClr>
              <a:buSzPts val="1000"/>
              <a:buFont typeface="Arial"/>
              <a:buNone/>
              <a:defRPr sz="1000" b="0" strike="noStrik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11760" y="256860"/>
            <a:ext cx="8520120" cy="205236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5200"/>
              <a:buFont typeface="Arial"/>
              <a:buNone/>
            </a:pPr>
            <a:r>
              <a:rPr lang="en" sz="5200" b="0" strike="noStrike" dirty="0">
                <a:solidFill>
                  <a:schemeClr val="dk1"/>
                </a:solidFill>
                <a:latin typeface="Arial"/>
                <a:ea typeface="Arial"/>
                <a:cs typeface="Arial"/>
                <a:sym typeface="Arial"/>
              </a:rPr>
              <a:t>CS </a:t>
            </a:r>
            <a:r>
              <a:rPr lang="en" sz="5200" b="0" strike="noStrike" dirty="0"/>
              <a:t>6</a:t>
            </a:r>
            <a:r>
              <a:rPr lang="en" sz="5200" b="0" strike="noStrike" dirty="0">
                <a:solidFill>
                  <a:schemeClr val="dk1"/>
                </a:solidFill>
                <a:latin typeface="Arial"/>
                <a:ea typeface="Arial"/>
                <a:cs typeface="Arial"/>
                <a:sym typeface="Arial"/>
              </a:rPr>
              <a:t>476 Project 3</a:t>
            </a:r>
            <a:endParaRPr sz="5200" b="0" strike="noStrike" dirty="0">
              <a:solidFill>
                <a:srgbClr val="000000"/>
              </a:solidFill>
              <a:latin typeface="Arial"/>
              <a:ea typeface="Arial"/>
              <a:cs typeface="Arial"/>
              <a:sym typeface="Arial"/>
            </a:endParaRPr>
          </a:p>
        </p:txBody>
      </p:sp>
      <p:sp>
        <p:nvSpPr>
          <p:cNvPr id="81" name="Google Shape;81;p19"/>
          <p:cNvSpPr txBox="1">
            <a:spLocks noGrp="1"/>
          </p:cNvSpPr>
          <p:nvPr>
            <p:ph type="subTitle" idx="1"/>
          </p:nvPr>
        </p:nvSpPr>
        <p:spPr>
          <a:xfrm>
            <a:off x="311760" y="2309220"/>
            <a:ext cx="8520120" cy="79236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2800"/>
              <a:buFont typeface="Arial"/>
              <a:buNone/>
            </a:pPr>
            <a:r>
              <a:rPr lang="en-IN" sz="2800" b="0" i="0" u="none" strike="noStrike" cap="none" dirty="0">
                <a:solidFill>
                  <a:schemeClr val="dk2"/>
                </a:solidFill>
                <a:latin typeface="Arial"/>
                <a:ea typeface="Arial"/>
                <a:cs typeface="Arial"/>
                <a:sym typeface="Arial"/>
              </a:rPr>
              <a:t>Shruti Jeyaraman</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IN" sz="2800" b="0" i="0" u="none" strike="noStrike" cap="none" dirty="0">
                <a:solidFill>
                  <a:schemeClr val="dk2"/>
                </a:solidFill>
                <a:latin typeface="Arial"/>
                <a:ea typeface="Arial"/>
                <a:cs typeface="Arial"/>
                <a:sym typeface="Arial"/>
              </a:rPr>
              <a:t>sjeyaraman6@gatech.edu</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IN" sz="2800" b="0" i="0" u="none" strike="noStrike" cap="none" dirty="0">
                <a:solidFill>
                  <a:schemeClr val="dk2"/>
                </a:solidFill>
                <a:latin typeface="Arial"/>
                <a:ea typeface="Arial"/>
                <a:cs typeface="Arial"/>
                <a:sym typeface="Arial"/>
              </a:rPr>
              <a:t>sjeyaraman6</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2800"/>
              <a:buFont typeface="Arial"/>
              <a:buNone/>
            </a:pPr>
            <a:r>
              <a:rPr lang="en-IN" sz="2800" b="0" i="0" u="none" strike="noStrike" cap="none" dirty="0">
                <a:solidFill>
                  <a:schemeClr val="dk2"/>
                </a:solidFill>
                <a:latin typeface="Arial"/>
                <a:ea typeface="Arial"/>
                <a:cs typeface="Arial"/>
                <a:sym typeface="Arial"/>
              </a:rPr>
              <a:t>904143748</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800"/>
              <a:buFont typeface="Arial"/>
              <a:buNone/>
            </a:pP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311760" y="126306"/>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1: SimpleNet</a:t>
            </a:r>
            <a:endParaRPr sz="2800" b="0" strike="noStrike" dirty="0">
              <a:solidFill>
                <a:srgbClr val="000000"/>
              </a:solidFill>
              <a:latin typeface="Arial"/>
              <a:ea typeface="Arial"/>
              <a:cs typeface="Arial"/>
              <a:sym typeface="Arial"/>
            </a:endParaRPr>
          </a:p>
        </p:txBody>
      </p:sp>
      <p:sp>
        <p:nvSpPr>
          <p:cNvPr id="88" name="Google Shape;88;p20"/>
          <p:cNvSpPr txBox="1">
            <a:spLocks noGrp="1"/>
          </p:cNvSpPr>
          <p:nvPr>
            <p:ph type="body" idx="1"/>
          </p:nvPr>
        </p:nvSpPr>
        <p:spPr>
          <a:xfrm>
            <a:off x="311760" y="698706"/>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dirty="0">
              <a:solidFill>
                <a:srgbClr val="000000"/>
              </a:solidFil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61.74%</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46.73%</a:t>
            </a:r>
            <a:endParaRPr sz="14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03A99AB6-D294-551B-2E2C-BBFC1DC969FC}"/>
              </a:ext>
            </a:extLst>
          </p:cNvPr>
          <p:cNvPicPr>
            <a:picLocks noChangeAspect="1"/>
          </p:cNvPicPr>
          <p:nvPr/>
        </p:nvPicPr>
        <p:blipFill>
          <a:blip r:embed="rId3"/>
          <a:stretch>
            <a:fillRect/>
          </a:stretch>
        </p:blipFill>
        <p:spPr>
          <a:xfrm>
            <a:off x="286285" y="577993"/>
            <a:ext cx="3816548" cy="3051897"/>
          </a:xfrm>
          <a:prstGeom prst="rect">
            <a:avLst/>
          </a:prstGeom>
        </p:spPr>
      </p:pic>
      <p:pic>
        <p:nvPicPr>
          <p:cNvPr id="7" name="Picture 6">
            <a:extLst>
              <a:ext uri="{FF2B5EF4-FFF2-40B4-BE49-F238E27FC236}">
                <a16:creationId xmlns:a16="http://schemas.microsoft.com/office/drawing/2014/main" id="{975E14DB-CFD4-B4B2-2756-80134183B29B}"/>
              </a:ext>
            </a:extLst>
          </p:cNvPr>
          <p:cNvPicPr>
            <a:picLocks noChangeAspect="1"/>
          </p:cNvPicPr>
          <p:nvPr/>
        </p:nvPicPr>
        <p:blipFill>
          <a:blip r:embed="rId4"/>
          <a:stretch>
            <a:fillRect/>
          </a:stretch>
        </p:blipFill>
        <p:spPr>
          <a:xfrm>
            <a:off x="4571819" y="577992"/>
            <a:ext cx="3999601" cy="30518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311757" y="77814"/>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a:solidFill>
                  <a:schemeClr val="dk1"/>
                </a:solidFill>
                <a:latin typeface="Arial"/>
                <a:ea typeface="Arial"/>
                <a:cs typeface="Arial"/>
                <a:sym typeface="Arial"/>
              </a:rPr>
              <a:t>Part 2: SimpleNetFinal</a:t>
            </a:r>
            <a:endParaRPr sz="2800" b="0" strike="noStrike">
              <a:solidFill>
                <a:srgbClr val="000000"/>
              </a:solidFill>
              <a:latin typeface="Arial"/>
              <a:ea typeface="Arial"/>
              <a:cs typeface="Arial"/>
              <a:sym typeface="Arial"/>
            </a:endParaRPr>
          </a:p>
        </p:txBody>
      </p:sp>
      <p:sp>
        <p:nvSpPr>
          <p:cNvPr id="95" name="Google Shape;95;p21"/>
          <p:cNvSpPr txBox="1">
            <a:spLocks noGrp="1"/>
          </p:cNvSpPr>
          <p:nvPr>
            <p:ph type="body" idx="1"/>
          </p:nvPr>
        </p:nvSpPr>
        <p:spPr>
          <a:xfrm>
            <a:off x="311757" y="650214"/>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dirty="0">
                <a:solidFill>
                  <a:schemeClr val="dk2"/>
                </a:solidFill>
                <a:latin typeface="Arial"/>
                <a:ea typeface="Arial"/>
                <a:cs typeface="Arial"/>
                <a:sym typeface="Arial"/>
              </a:rPr>
              <a:t>Add each of the following (keeping the changes as you move to the next row):</a:t>
            </a:r>
            <a:endParaRPr sz="1800" b="0" i="0" u="none" strike="noStrike" cap="none" dirty="0">
              <a:solidFill>
                <a:srgbClr val="000000"/>
              </a:solidFill>
              <a:latin typeface="Arial"/>
              <a:ea typeface="Arial"/>
              <a:cs typeface="Arial"/>
              <a:sym typeface="Arial"/>
            </a:endParaRPr>
          </a:p>
        </p:txBody>
      </p:sp>
      <p:graphicFrame>
        <p:nvGraphicFramePr>
          <p:cNvPr id="96" name="Google Shape;96;p21"/>
          <p:cNvGraphicFramePr/>
          <p:nvPr>
            <p:extLst>
              <p:ext uri="{D42A27DB-BD31-4B8C-83A1-F6EECF244321}">
                <p14:modId xmlns:p14="http://schemas.microsoft.com/office/powerpoint/2010/main" val="1825899962"/>
              </p:ext>
            </p:extLst>
          </p:nvPr>
        </p:nvGraphicFramePr>
        <p:xfrm>
          <a:off x="1239479" y="1139259"/>
          <a:ext cx="6664675" cy="3168700"/>
        </p:xfrm>
        <a:graphic>
          <a:graphicData uri="http://schemas.openxmlformats.org/drawingml/2006/table">
            <a:tbl>
              <a:tblPr>
                <a:noFill/>
                <a:tableStyleId>{CB4B237E-7425-48C3-BFFF-0002C024C5BE}</a:tableStyleId>
              </a:tblPr>
              <a:tblGrid>
                <a:gridCol w="3908150">
                  <a:extLst>
                    <a:ext uri="{9D8B030D-6E8A-4147-A177-3AD203B41FA5}">
                      <a16:colId xmlns:a16="http://schemas.microsoft.com/office/drawing/2014/main" val="20000"/>
                    </a:ext>
                  </a:extLst>
                </a:gridCol>
                <a:gridCol w="1401125">
                  <a:extLst>
                    <a:ext uri="{9D8B030D-6E8A-4147-A177-3AD203B41FA5}">
                      <a16:colId xmlns:a16="http://schemas.microsoft.com/office/drawing/2014/main" val="20001"/>
                    </a:ext>
                  </a:extLst>
                </a:gridCol>
                <a:gridCol w="1355400">
                  <a:extLst>
                    <a:ext uri="{9D8B030D-6E8A-4147-A177-3AD203B41FA5}">
                      <a16:colId xmlns:a16="http://schemas.microsoft.com/office/drawing/2014/main" val="20002"/>
                    </a:ext>
                  </a:extLst>
                </a:gridCol>
              </a:tblGrid>
              <a:tr h="609475">
                <a:tc>
                  <a:txBody>
                    <a:bodyPr/>
                    <a:lstStyle/>
                    <a:p>
                      <a:pPr marL="0" marR="0" lvl="0" indent="0" algn="l" rtl="0">
                        <a:spcBef>
                          <a:spcPts val="0"/>
                        </a:spcBef>
                        <a:spcAft>
                          <a:spcPts val="0"/>
                        </a:spcAft>
                        <a:buNone/>
                      </a:pP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400" b="0" strike="noStrike">
                          <a:solidFill>
                            <a:srgbClr val="000000"/>
                          </a:solidFill>
                          <a:latin typeface="Arial"/>
                          <a:ea typeface="Arial"/>
                          <a:cs typeface="Arial"/>
                          <a:sym typeface="Arial"/>
                        </a:rPr>
                        <a:t>Training accuracy</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400" b="0" strike="noStrike">
                          <a:solidFill>
                            <a:srgbClr val="000000"/>
                          </a:solidFill>
                          <a:latin typeface="Arial"/>
                          <a:ea typeface="Arial"/>
                          <a:cs typeface="Arial"/>
                          <a:sym typeface="Arial"/>
                        </a:rPr>
                        <a:t>Validation accuracy</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96000">
                <a:tc>
                  <a:txBody>
                    <a:bodyPr/>
                    <a:lstStyle/>
                    <a:p>
                      <a:pPr marL="228600" marR="0" lvl="0" indent="0" algn="l" rtl="0">
                        <a:lnSpc>
                          <a:spcPct val="100000"/>
                        </a:lnSpc>
                        <a:spcBef>
                          <a:spcPts val="0"/>
                        </a:spcBef>
                        <a:spcAft>
                          <a:spcPts val="0"/>
                        </a:spcAft>
                        <a:buNone/>
                      </a:pPr>
                      <a:r>
                        <a:rPr lang="en" sz="1400" b="0" strike="noStrike">
                          <a:solidFill>
                            <a:srgbClr val="000000"/>
                          </a:solidFill>
                          <a:latin typeface="Arial"/>
                          <a:ea typeface="Arial"/>
                          <a:cs typeface="Arial"/>
                          <a:sym typeface="Arial"/>
                        </a:rPr>
                        <a:t>SimpleNet</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61.74%</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46.73%</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96000">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a:solidFill>
                            <a:srgbClr val="000000"/>
                          </a:solidFill>
                          <a:latin typeface="Arial"/>
                          <a:ea typeface="Arial"/>
                          <a:cs typeface="Arial"/>
                          <a:sym typeface="Arial"/>
                        </a:rPr>
                        <a:t>Jittering</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54.41%</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50.33%</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4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a:solidFill>
                            <a:srgbClr val="000000"/>
                          </a:solidFill>
                          <a:latin typeface="Arial"/>
                          <a:ea typeface="Arial"/>
                          <a:cs typeface="Arial"/>
                          <a:sym typeface="Arial"/>
                        </a:rPr>
                        <a:t>Zero-centering &amp; variance-normalization</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77.82%</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58.87%</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96000">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a:solidFill>
                            <a:srgbClr val="000000"/>
                          </a:solidFill>
                          <a:latin typeface="Arial"/>
                          <a:ea typeface="Arial"/>
                          <a:cs typeface="Arial"/>
                          <a:sym typeface="Arial"/>
                        </a:rPr>
                        <a:t>Dropout regularization</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64.19%</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56.80%</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08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dirty="0">
                          <a:solidFill>
                            <a:srgbClr val="000000"/>
                          </a:solidFill>
                          <a:latin typeface="Arial"/>
                          <a:ea typeface="Arial"/>
                          <a:cs typeface="Arial"/>
                          <a:sym typeface="Arial"/>
                        </a:rPr>
                        <a:t>Making network "deep"</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63.69%</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61.87%</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0875">
                <a:tc>
                  <a:txBody>
                    <a:bodyPr/>
                    <a:lstStyle/>
                    <a:p>
                      <a:pPr marL="457200" marR="0" lvl="0" indent="-317520" algn="l" rtl="0">
                        <a:lnSpc>
                          <a:spcPct val="100000"/>
                        </a:lnSpc>
                        <a:spcBef>
                          <a:spcPts val="0"/>
                        </a:spcBef>
                        <a:spcAft>
                          <a:spcPts val="0"/>
                        </a:spcAft>
                        <a:buClr>
                          <a:srgbClr val="000000"/>
                        </a:buClr>
                        <a:buSzPts val="1400"/>
                        <a:buFont typeface="Arial"/>
                        <a:buChar char="+"/>
                      </a:pPr>
                      <a:r>
                        <a:rPr lang="en" sz="1400" b="0" strike="noStrike">
                          <a:solidFill>
                            <a:srgbClr val="000000"/>
                          </a:solidFill>
                          <a:latin typeface="Arial"/>
                          <a:ea typeface="Arial"/>
                          <a:cs typeface="Arial"/>
                          <a:sym typeface="Arial"/>
                        </a:rPr>
                        <a:t>Batch normalization</a:t>
                      </a:r>
                      <a:endParaRPr sz="1400" b="0" strike="noStrike">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73.27%</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IN" sz="1400" b="0" strike="noStrike" dirty="0">
                          <a:solidFill>
                            <a:srgbClr val="000000"/>
                          </a:solidFill>
                          <a:latin typeface="Arial"/>
                          <a:ea typeface="Arial"/>
                          <a:cs typeface="Arial"/>
                          <a:sym typeface="Arial"/>
                        </a:rPr>
                        <a:t>70.2%</a:t>
                      </a:r>
                      <a:endParaRPr sz="1400" b="0" strike="noStrike" dirty="0">
                        <a:solidFill>
                          <a:srgbClr val="000000"/>
                        </a:solidFill>
                        <a:latin typeface="Arial"/>
                        <a:ea typeface="Arial"/>
                        <a:cs typeface="Arial"/>
                        <a:sym typeface="Arial"/>
                      </a:endParaRPr>
                    </a:p>
                  </a:txBody>
                  <a:tcPr marL="91075" marR="91075"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2"/>
          <p:cNvSpPr txBox="1">
            <a:spLocks noGrp="1"/>
          </p:cNvSpPr>
          <p:nvPr>
            <p:ph type="title"/>
          </p:nvPr>
        </p:nvSpPr>
        <p:spPr>
          <a:xfrm>
            <a:off x="311940" y="77815"/>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2: SimpleNetFinal</a:t>
            </a:r>
            <a:endParaRPr sz="2800" b="0" strike="noStrike" dirty="0">
              <a:solidFill>
                <a:srgbClr val="000000"/>
              </a:solidFill>
              <a:latin typeface="Arial"/>
              <a:ea typeface="Arial"/>
              <a:cs typeface="Arial"/>
              <a:sym typeface="Arial"/>
            </a:endParaRPr>
          </a:p>
        </p:txBody>
      </p:sp>
      <p:sp>
        <p:nvSpPr>
          <p:cNvPr id="102" name="Google Shape;102;p22"/>
          <p:cNvSpPr txBox="1">
            <a:spLocks noGrp="1"/>
          </p:cNvSpPr>
          <p:nvPr>
            <p:ph type="body" idx="1"/>
          </p:nvPr>
        </p:nvSpPr>
        <p:spPr>
          <a:xfrm>
            <a:off x="311940" y="650215"/>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dirty="0">
              <a:solidFill>
                <a:srgbClr val="000000"/>
              </a:solidFil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73.27%</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70.20%</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FBA4BF0-D5EE-713F-AD4C-2ADDA8BC26C5}"/>
              </a:ext>
            </a:extLst>
          </p:cNvPr>
          <p:cNvPicPr>
            <a:picLocks noChangeAspect="1"/>
          </p:cNvPicPr>
          <p:nvPr/>
        </p:nvPicPr>
        <p:blipFill>
          <a:blip r:embed="rId3"/>
          <a:stretch>
            <a:fillRect/>
          </a:stretch>
        </p:blipFill>
        <p:spPr>
          <a:xfrm>
            <a:off x="203056" y="650215"/>
            <a:ext cx="3905346" cy="3079606"/>
          </a:xfrm>
          <a:prstGeom prst="rect">
            <a:avLst/>
          </a:prstGeom>
        </p:spPr>
      </p:pic>
      <p:pic>
        <p:nvPicPr>
          <p:cNvPr id="5" name="Picture 4">
            <a:extLst>
              <a:ext uri="{FF2B5EF4-FFF2-40B4-BE49-F238E27FC236}">
                <a16:creationId xmlns:a16="http://schemas.microsoft.com/office/drawing/2014/main" id="{5FF7A7A6-6BEC-3B49-0633-62AAC4803098}"/>
              </a:ext>
            </a:extLst>
          </p:cNvPr>
          <p:cNvPicPr>
            <a:picLocks noChangeAspect="1"/>
          </p:cNvPicPr>
          <p:nvPr/>
        </p:nvPicPr>
        <p:blipFill>
          <a:blip r:embed="rId4"/>
          <a:stretch>
            <a:fillRect/>
          </a:stretch>
        </p:blipFill>
        <p:spPr>
          <a:xfrm>
            <a:off x="4565746" y="650215"/>
            <a:ext cx="4012108" cy="32082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311760" y="119378"/>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2: SimpleNetFinal</a:t>
            </a:r>
            <a:endParaRPr sz="2800" b="0" strike="noStrike" dirty="0">
              <a:solidFill>
                <a:srgbClr val="000000"/>
              </a:solidFill>
              <a:latin typeface="Arial"/>
              <a:ea typeface="Arial"/>
              <a:cs typeface="Arial"/>
              <a:sym typeface="Arial"/>
            </a:endParaRPr>
          </a:p>
        </p:txBody>
      </p:sp>
      <p:sp>
        <p:nvSpPr>
          <p:cNvPr id="109" name="Google Shape;109;p23"/>
          <p:cNvSpPr txBox="1">
            <a:spLocks noGrp="1"/>
          </p:cNvSpPr>
          <p:nvPr>
            <p:ph type="body" idx="1"/>
          </p:nvPr>
        </p:nvSpPr>
        <p:spPr>
          <a:xfrm>
            <a:off x="312121" y="691778"/>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Name 10 different possible transformations for data augmentation</a:t>
            </a:r>
            <a:r>
              <a:rPr lang="en" sz="1400" dirty="0">
                <a:solidFill>
                  <a:schemeClr val="dk2"/>
                </a:solidFill>
              </a:rPr>
              <a:t>:</a:t>
            </a:r>
          </a:p>
          <a:p>
            <a:pPr marL="0" marR="0" lvl="0" indent="0" algn="l" rtl="0">
              <a:lnSpc>
                <a:spcPct val="115000"/>
              </a:lnSpc>
              <a:spcBef>
                <a:spcPts val="0"/>
              </a:spcBef>
              <a:spcAft>
                <a:spcPts val="0"/>
              </a:spcAft>
              <a:buClr>
                <a:schemeClr val="dk2"/>
              </a:buClr>
              <a:buSzPts val="1400"/>
              <a:buFont typeface="Arial"/>
              <a:buNone/>
            </a:pPr>
            <a:endParaRPr lang="en" sz="1400" b="0" i="0" u="none" strike="noStrike" cap="none" dirty="0">
              <a:solidFill>
                <a:schemeClr val="dk2"/>
              </a:solidFill>
              <a:latin typeface="Arial"/>
              <a:ea typeface="Arial"/>
              <a:cs typeface="Arial"/>
              <a:sym typeface="Arial"/>
            </a:endParaRPr>
          </a:p>
          <a:p>
            <a:pPr marL="228600" marR="0" lvl="0" indent="-228600" algn="l" rtl="0">
              <a:lnSpc>
                <a:spcPct val="115000"/>
              </a:lnSpc>
              <a:spcBef>
                <a:spcPts val="0"/>
              </a:spcBef>
              <a:spcAft>
                <a:spcPts val="0"/>
              </a:spcAft>
              <a:buClr>
                <a:schemeClr val="dk2"/>
              </a:buClr>
              <a:buSzPct val="100000"/>
              <a:buFont typeface="+mj-lt"/>
              <a:buAutoNum type="arabicPeriod"/>
            </a:pPr>
            <a:r>
              <a:rPr lang="en" sz="1100" dirty="0">
                <a:solidFill>
                  <a:schemeClr val="dk2"/>
                </a:solidFill>
              </a:rPr>
              <a:t>Horizontal flipping – image flipping about the vertical axis</a:t>
            </a:r>
          </a:p>
          <a:p>
            <a:pPr marL="228600" marR="0" lvl="0" indent="-228600" algn="l" rtl="0">
              <a:lnSpc>
                <a:spcPct val="115000"/>
              </a:lnSpc>
              <a:spcBef>
                <a:spcPts val="0"/>
              </a:spcBef>
              <a:spcAft>
                <a:spcPts val="0"/>
              </a:spcAft>
              <a:buClr>
                <a:schemeClr val="dk2"/>
              </a:buClr>
              <a:buSzPct val="100000"/>
              <a:buFont typeface="+mj-lt"/>
              <a:buAutoNum type="arabicPeriod"/>
            </a:pPr>
            <a:r>
              <a:rPr lang="en" sz="1100" dirty="0">
                <a:solidFill>
                  <a:schemeClr val="dk2"/>
                </a:solidFill>
              </a:rPr>
              <a:t>Vertical flipping – image flipping about the horizontal axis</a:t>
            </a:r>
          </a:p>
          <a:p>
            <a:pPr marL="228600" marR="0" lvl="0" indent="-228600" algn="l" rtl="0">
              <a:lnSpc>
                <a:spcPct val="115000"/>
              </a:lnSpc>
              <a:spcBef>
                <a:spcPts val="0"/>
              </a:spcBef>
              <a:spcAft>
                <a:spcPts val="0"/>
              </a:spcAft>
              <a:buClr>
                <a:schemeClr val="dk2"/>
              </a:buClr>
              <a:buSzPct val="100000"/>
              <a:buFont typeface="+mj-lt"/>
              <a:buAutoNum type="arabicPeriod"/>
            </a:pPr>
            <a:r>
              <a:rPr lang="en" sz="1100" b="0" i="0" u="none" strike="noStrike" cap="none" dirty="0">
                <a:solidFill>
                  <a:schemeClr val="dk2"/>
                </a:solidFill>
                <a:latin typeface="Arial"/>
                <a:ea typeface="Arial"/>
                <a:cs typeface="Arial"/>
                <a:sym typeface="Arial"/>
              </a:rPr>
              <a:t>Random rotation – image </a:t>
            </a:r>
            <a:r>
              <a:rPr lang="en" sz="1100" dirty="0">
                <a:solidFill>
                  <a:schemeClr val="dk2"/>
                </a:solidFill>
              </a:rPr>
              <a:t>rotation anti-/clockwise by a specific angle to handle different tilts</a:t>
            </a:r>
          </a:p>
          <a:p>
            <a:pPr marL="228600" marR="0" lvl="0" indent="-228600" algn="l" rtl="0">
              <a:lnSpc>
                <a:spcPct val="115000"/>
              </a:lnSpc>
              <a:spcBef>
                <a:spcPts val="0"/>
              </a:spcBef>
              <a:spcAft>
                <a:spcPts val="0"/>
              </a:spcAft>
              <a:buClr>
                <a:schemeClr val="dk2"/>
              </a:buClr>
              <a:buSzPct val="100000"/>
              <a:buFont typeface="+mj-lt"/>
              <a:buAutoNum type="arabicPeriod"/>
            </a:pPr>
            <a:r>
              <a:rPr lang="en" sz="1100" b="0" i="0" u="none" strike="noStrike" cap="none" dirty="0">
                <a:solidFill>
                  <a:schemeClr val="dk2"/>
                </a:solidFill>
                <a:latin typeface="Arial"/>
                <a:ea typeface="Arial"/>
                <a:cs typeface="Arial"/>
                <a:sym typeface="Arial"/>
              </a:rPr>
              <a:t>Zooming in and out</a:t>
            </a:r>
          </a:p>
          <a:p>
            <a:pPr marL="228600" marR="0" lvl="0" indent="-228600" algn="l" rtl="0">
              <a:lnSpc>
                <a:spcPct val="115000"/>
              </a:lnSpc>
              <a:spcBef>
                <a:spcPts val="0"/>
              </a:spcBef>
              <a:spcAft>
                <a:spcPts val="0"/>
              </a:spcAft>
              <a:buClr>
                <a:schemeClr val="dk2"/>
              </a:buClr>
              <a:buSzPct val="100000"/>
              <a:buFont typeface="+mj-lt"/>
              <a:buAutoNum type="arabicPeriod"/>
            </a:pPr>
            <a:r>
              <a:rPr lang="en" sz="1100" dirty="0">
                <a:solidFill>
                  <a:schemeClr val="dk2"/>
                </a:solidFill>
              </a:rPr>
              <a:t>Translation</a:t>
            </a:r>
          </a:p>
          <a:p>
            <a:pPr marL="228600" marR="0" lvl="0" indent="-228600" algn="l" rtl="0">
              <a:lnSpc>
                <a:spcPct val="115000"/>
              </a:lnSpc>
              <a:spcBef>
                <a:spcPts val="0"/>
              </a:spcBef>
              <a:spcAft>
                <a:spcPts val="0"/>
              </a:spcAft>
              <a:buClr>
                <a:schemeClr val="dk2"/>
              </a:buClr>
              <a:buSzPct val="100000"/>
              <a:buFont typeface="+mj-lt"/>
              <a:buAutoNum type="arabicPeriod"/>
            </a:pPr>
            <a:r>
              <a:rPr lang="en" sz="1100" b="0" i="0" u="none" strike="noStrike" cap="none" dirty="0">
                <a:solidFill>
                  <a:schemeClr val="dk2"/>
                </a:solidFill>
                <a:latin typeface="Arial"/>
                <a:ea typeface="Arial"/>
                <a:cs typeface="Arial"/>
                <a:sym typeface="Arial"/>
              </a:rPr>
              <a:t>Shearing – applying an affine distortion that skews the angle of the image along one axis</a:t>
            </a:r>
          </a:p>
          <a:p>
            <a:pPr marL="228600" marR="0" lvl="0" indent="-228600" algn="l" rtl="0">
              <a:lnSpc>
                <a:spcPct val="90000"/>
              </a:lnSpc>
              <a:spcBef>
                <a:spcPts val="0"/>
              </a:spcBef>
              <a:spcAft>
                <a:spcPts val="0"/>
              </a:spcAft>
              <a:buClr>
                <a:schemeClr val="dk2"/>
              </a:buClr>
              <a:buSzPct val="100000"/>
              <a:buFont typeface="+mj-lt"/>
              <a:buAutoNum type="arabicPeriod"/>
            </a:pPr>
            <a:r>
              <a:rPr lang="en" sz="1100" dirty="0">
                <a:solidFill>
                  <a:schemeClr val="dk2"/>
                </a:solidFill>
              </a:rPr>
              <a:t>Color jitter – Modifying the saturation, hue or individual RGB channels to prevent the model from relying on specific color tints</a:t>
            </a:r>
          </a:p>
          <a:p>
            <a:pPr marL="228600" marR="0" lvl="0" indent="-228600" algn="l" rtl="0">
              <a:lnSpc>
                <a:spcPct val="90000"/>
              </a:lnSpc>
              <a:spcBef>
                <a:spcPts val="0"/>
              </a:spcBef>
              <a:spcAft>
                <a:spcPts val="0"/>
              </a:spcAft>
              <a:buClr>
                <a:schemeClr val="dk2"/>
              </a:buClr>
              <a:buSzPct val="100000"/>
              <a:buFont typeface="+mj-lt"/>
              <a:buAutoNum type="arabicPeriod"/>
            </a:pPr>
            <a:r>
              <a:rPr lang="en" sz="1100" dirty="0">
                <a:solidFill>
                  <a:schemeClr val="dk2"/>
                </a:solidFill>
              </a:rPr>
              <a:t>Gaussian Noise Injection – Adding random pixel-level static to make the model resilient to low-quality or grainy sensors</a:t>
            </a:r>
            <a:endParaRPr lang="en" sz="1100" dirty="0">
              <a:solidFill>
                <a:srgbClr val="6A6A6A"/>
              </a:solidFill>
            </a:endParaRPr>
          </a:p>
          <a:p>
            <a:pPr marL="228600" marR="0" lvl="0" indent="-228600" algn="l" rtl="0">
              <a:lnSpc>
                <a:spcPct val="90000"/>
              </a:lnSpc>
              <a:spcBef>
                <a:spcPts val="0"/>
              </a:spcBef>
              <a:spcAft>
                <a:spcPts val="0"/>
              </a:spcAft>
              <a:buClr>
                <a:schemeClr val="dk2"/>
              </a:buClr>
              <a:buSzPct val="100000"/>
              <a:buFont typeface="+mj-lt"/>
              <a:buAutoNum type="arabicPeriod"/>
            </a:pPr>
            <a:r>
              <a:rPr lang="en-US" sz="1100" b="0" i="0" u="none" strike="noStrike" cap="none" dirty="0">
                <a:solidFill>
                  <a:schemeClr val="accent2">
                    <a:lumMod val="75000"/>
                    <a:lumOff val="25000"/>
                  </a:schemeClr>
                </a:solidFill>
                <a:latin typeface="Arial"/>
                <a:ea typeface="Arial"/>
                <a:cs typeface="Arial"/>
                <a:sym typeface="Arial"/>
              </a:rPr>
              <a:t>Gaussian Blurring / Filtering — Smooths pixel values via weighted local averaging to simulate out-of-focus or motion-blurred inputs</a:t>
            </a:r>
          </a:p>
          <a:p>
            <a:pPr marL="228600" marR="0" lvl="0" indent="-228600" algn="l" rtl="0">
              <a:lnSpc>
                <a:spcPct val="90000"/>
              </a:lnSpc>
              <a:spcBef>
                <a:spcPts val="0"/>
              </a:spcBef>
              <a:spcAft>
                <a:spcPts val="0"/>
              </a:spcAft>
              <a:buClr>
                <a:schemeClr val="dk2"/>
              </a:buClr>
              <a:buSzPct val="100000"/>
              <a:buFont typeface="+mj-lt"/>
              <a:buAutoNum type="arabicPeriod"/>
            </a:pPr>
            <a:r>
              <a:rPr lang="en-US" sz="1100" dirty="0" err="1">
                <a:solidFill>
                  <a:schemeClr val="accent2">
                    <a:lumMod val="75000"/>
                    <a:lumOff val="25000"/>
                  </a:schemeClr>
                </a:solidFill>
              </a:rPr>
              <a:t>CutMix</a:t>
            </a:r>
            <a:r>
              <a:rPr lang="en-US" sz="1100" dirty="0">
                <a:solidFill>
                  <a:schemeClr val="accent2">
                    <a:lumMod val="75000"/>
                    <a:lumOff val="25000"/>
                  </a:schemeClr>
                </a:solidFill>
              </a:rPr>
              <a:t> – Patching a section of one training image onto another while proportionally blending their target labels</a:t>
            </a:r>
            <a:endParaRPr sz="1050" b="0" i="0" u="none" strike="noStrike" cap="none" dirty="0">
              <a:solidFill>
                <a:schemeClr val="accent2">
                  <a:lumMod val="75000"/>
                  <a:lumOff val="25000"/>
                </a:schemeClr>
              </a:solidFill>
              <a:latin typeface="Arial"/>
              <a:ea typeface="Arial"/>
              <a:cs typeface="Arial"/>
              <a:sym typeface="Arial"/>
            </a:endParaRPr>
          </a:p>
        </p:txBody>
      </p:sp>
      <p:sp>
        <p:nvSpPr>
          <p:cNvPr id="110" name="Google Shape;110;p23"/>
          <p:cNvSpPr txBox="1">
            <a:spLocks noGrp="1"/>
          </p:cNvSpPr>
          <p:nvPr>
            <p:ph type="body" idx="1"/>
          </p:nvPr>
        </p:nvSpPr>
        <p:spPr>
          <a:xfrm>
            <a:off x="4832279" y="691778"/>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is the desired variance after each layer? Why would that be helpful?</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400" dirty="0">
                <a:solidFill>
                  <a:schemeClr val="dk2"/>
                </a:solidFill>
              </a:rPr>
              <a:t>We want the activations and gradients at every layer of the network to be useful for learning so ideally, we want the variance of the inputs after each layer to be 1. This way the activations maintain the same scale across layers without exploding or shrinking to the point that the model stops learning. Without normalization, the scale of every layers’ inputs drift as earlier layers update. Normalization ensures training is smoother and that the layers actually learn from the data. It also means that the optimizer can increase learning rates without diverging and converge faster.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4"/>
          <p:cNvSpPr txBox="1">
            <a:spLocks noGrp="1"/>
          </p:cNvSpPr>
          <p:nvPr>
            <p:ph type="title"/>
          </p:nvPr>
        </p:nvSpPr>
        <p:spPr>
          <a:xfrm>
            <a:off x="311940" y="57033"/>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2: SimpleNetFinal</a:t>
            </a:r>
            <a:endParaRPr sz="2800" b="0" strike="noStrike" dirty="0">
              <a:solidFill>
                <a:srgbClr val="000000"/>
              </a:solidFill>
              <a:latin typeface="Arial"/>
              <a:ea typeface="Arial"/>
              <a:cs typeface="Arial"/>
              <a:sym typeface="Arial"/>
            </a:endParaRPr>
          </a:p>
        </p:txBody>
      </p:sp>
      <p:sp>
        <p:nvSpPr>
          <p:cNvPr id="116" name="Google Shape;116;p24"/>
          <p:cNvSpPr txBox="1">
            <a:spLocks noGrp="1"/>
          </p:cNvSpPr>
          <p:nvPr>
            <p:ph type="body" idx="1"/>
          </p:nvPr>
        </p:nvSpPr>
        <p:spPr>
          <a:xfrm>
            <a:off x="387960" y="631866"/>
            <a:ext cx="3999600" cy="341604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distribution is dropout usually sampled from?</a:t>
            </a:r>
          </a:p>
          <a:p>
            <a:pPr marL="0" marR="0" lvl="0" indent="0" algn="just" rtl="0">
              <a:lnSpc>
                <a:spcPct val="115000"/>
              </a:lnSpc>
              <a:spcBef>
                <a:spcPts val="0"/>
              </a:spcBef>
              <a:spcAft>
                <a:spcPts val="0"/>
              </a:spcAft>
              <a:buClr>
                <a:schemeClr val="dk2"/>
              </a:buClr>
              <a:buSzPts val="1400"/>
              <a:buFont typeface="Arial"/>
              <a:buNone/>
            </a:pPr>
            <a:r>
              <a:rPr lang="en" sz="1200" dirty="0">
                <a:solidFill>
                  <a:srgbClr val="6A6A6A"/>
                </a:solidFill>
              </a:rPr>
              <a:t>Dropout samples from a Bernoulli distribution </a:t>
            </a:r>
            <a:endParaRPr sz="1200" b="0" i="0" u="none" strike="noStrike" cap="none" dirty="0">
              <a:solidFill>
                <a:srgbClr val="6A6A6A"/>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400"/>
              <a:buFont typeface="Arial"/>
              <a:buNone/>
            </a:pPr>
            <a:endParaRPr lang="en-IN" sz="1200" b="0" i="0" u="none" strike="noStrike" cap="non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400"/>
              <a:buFont typeface="Arial"/>
              <a:buNone/>
            </a:pPr>
            <a:endParaRPr sz="1200" b="0" i="0" u="none" strike="noStrike" cap="non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400"/>
              <a:buFont typeface="Arial"/>
              <a:buNone/>
            </a:pPr>
            <a:r>
              <a:rPr lang="en-IN" sz="1200" dirty="0">
                <a:solidFill>
                  <a:srgbClr val="6A6A6A"/>
                </a:solidFill>
              </a:rPr>
              <a:t>In the forward pass, neurons are retained with probability (1-p) and dropped with probability p, which for our code is set to 0.5.</a:t>
            </a:r>
            <a:endParaRPr sz="1200" b="0" i="0" u="none" strike="noStrike" cap="none" dirty="0">
              <a:solidFill>
                <a:srgbClr val="6A6A6A"/>
              </a:solidFill>
              <a:latin typeface="Arial"/>
              <a:ea typeface="Arial"/>
              <a:cs typeface="Arial"/>
              <a:sym typeface="Arial"/>
            </a:endParaRPr>
          </a:p>
          <a:p>
            <a:pPr marL="0" marR="0" lvl="0" indent="0" algn="just" rtl="0">
              <a:lnSpc>
                <a:spcPct val="115000"/>
              </a:lnSpc>
              <a:spcBef>
                <a:spcPts val="0"/>
              </a:spcBef>
              <a:spcAft>
                <a:spcPts val="0"/>
              </a:spcAft>
              <a:buClr>
                <a:schemeClr val="dk1"/>
              </a:buClr>
              <a:buSzPts val="1400"/>
              <a:buFont typeface="Arial"/>
              <a:buNone/>
            </a:pPr>
            <a:r>
              <a:rPr lang="en-IN" sz="1200" b="0" i="0" u="none" strike="noStrike" cap="none" dirty="0" err="1">
                <a:solidFill>
                  <a:srgbClr val="6A6A6A"/>
                </a:solidFill>
                <a:latin typeface="Arial"/>
                <a:ea typeface="Arial"/>
                <a:cs typeface="Arial"/>
                <a:sym typeface="Arial"/>
              </a:rPr>
              <a:t>Pytorch</a:t>
            </a:r>
            <a:r>
              <a:rPr lang="en-IN" sz="1200" b="0" i="0" u="none" strike="noStrike" cap="none" dirty="0">
                <a:solidFill>
                  <a:srgbClr val="6A6A6A"/>
                </a:solidFill>
                <a:latin typeface="Arial"/>
                <a:ea typeface="Arial"/>
                <a:cs typeface="Arial"/>
                <a:sym typeface="Arial"/>
              </a:rPr>
              <a:t> uses inverted dropout where the retained neurons are scaled by 1/(1-p) so the expected value of each activation stays the same during training.</a:t>
            </a:r>
          </a:p>
          <a:p>
            <a:pPr marL="0" marR="0" lvl="0" indent="0" algn="just" rtl="0">
              <a:lnSpc>
                <a:spcPct val="115000"/>
              </a:lnSpc>
              <a:spcBef>
                <a:spcPts val="0"/>
              </a:spcBef>
              <a:spcAft>
                <a:spcPts val="0"/>
              </a:spcAft>
              <a:buClr>
                <a:schemeClr val="dk1"/>
              </a:buClr>
              <a:buSzPts val="1400"/>
              <a:buFont typeface="Arial"/>
              <a:buNone/>
            </a:pPr>
            <a:endParaRPr lang="en-IN" sz="1200" dirty="0">
              <a:solidFill>
                <a:srgbClr val="6A6A6A"/>
              </a:solidFill>
            </a:endParaRPr>
          </a:p>
          <a:p>
            <a:pPr marL="0" marR="0" lvl="0" indent="0" algn="just" rtl="0">
              <a:lnSpc>
                <a:spcPct val="115000"/>
              </a:lnSpc>
              <a:spcBef>
                <a:spcPts val="0"/>
              </a:spcBef>
              <a:spcAft>
                <a:spcPts val="0"/>
              </a:spcAft>
              <a:buClr>
                <a:schemeClr val="dk2"/>
              </a:buClr>
              <a:buSzPts val="1400"/>
              <a:buFont typeface="Arial"/>
              <a:buNone/>
            </a:pPr>
            <a:r>
              <a:rPr lang="en" sz="1400" b="0" i="0" u="none" strike="noStrike" cap="none" dirty="0">
                <a:solidFill>
                  <a:srgbClr val="6A6A6A"/>
                </a:solidFill>
                <a:latin typeface="Arial"/>
                <a:ea typeface="Arial"/>
                <a:cs typeface="Arial"/>
                <a:sym typeface="Arial"/>
              </a:rPr>
              <a:t>How many parameters does your base </a:t>
            </a:r>
            <a:r>
              <a:rPr lang="en" sz="1400" b="0" i="0" u="none" strike="noStrike" cap="none" dirty="0">
                <a:solidFill>
                  <a:schemeClr val="dk2"/>
                </a:solidFill>
                <a:latin typeface="Arial"/>
                <a:ea typeface="Arial"/>
                <a:cs typeface="Arial"/>
                <a:sym typeface="Arial"/>
              </a:rPr>
              <a:t>SimpleNet model have? How many parameters does your SimpleNetFinal model have?</a:t>
            </a:r>
          </a:p>
          <a:p>
            <a:pPr marL="0" marR="0" lvl="0" indent="0" algn="just" rtl="0">
              <a:lnSpc>
                <a:spcPct val="115000"/>
              </a:lnSpc>
              <a:spcBef>
                <a:spcPts val="0"/>
              </a:spcBef>
              <a:spcAft>
                <a:spcPts val="0"/>
              </a:spcAft>
              <a:buClr>
                <a:schemeClr val="dk2"/>
              </a:buClr>
              <a:buSzPts val="1400"/>
              <a:buFont typeface="Arial"/>
              <a:buNone/>
            </a:pPr>
            <a:endParaRPr lang="en" sz="1200" dirty="0">
              <a:solidFill>
                <a:schemeClr val="dk2"/>
              </a:solidFill>
            </a:endParaRPr>
          </a:p>
          <a:p>
            <a:pPr marL="0" marR="0" lvl="0" indent="0" algn="just" rtl="0">
              <a:lnSpc>
                <a:spcPct val="115000"/>
              </a:lnSpc>
              <a:spcBef>
                <a:spcPts val="0"/>
              </a:spcBef>
              <a:spcAft>
                <a:spcPts val="0"/>
              </a:spcAft>
              <a:buClr>
                <a:schemeClr val="dk2"/>
              </a:buClr>
              <a:buSzPts val="1400"/>
              <a:buFont typeface="Arial"/>
              <a:buNone/>
            </a:pPr>
            <a:r>
              <a:rPr lang="en" sz="1200" dirty="0">
                <a:solidFill>
                  <a:schemeClr val="dk2"/>
                </a:solidFill>
              </a:rPr>
              <a:t>My base SimpleNet model has 56,895 parameters. SimpleNetFinal has 361,583 parameters</a:t>
            </a:r>
            <a:endParaRPr sz="1200" b="0" i="0" u="none" strike="noStrike" cap="none" dirty="0">
              <a:solidFill>
                <a:srgbClr val="000000"/>
              </a:solidFill>
              <a:latin typeface="Arial"/>
              <a:ea typeface="Arial"/>
              <a:cs typeface="Arial"/>
              <a:sym typeface="Arial"/>
            </a:endParaRPr>
          </a:p>
        </p:txBody>
      </p:sp>
      <p:sp>
        <p:nvSpPr>
          <p:cNvPr id="117" name="Google Shape;117;p24"/>
          <p:cNvSpPr txBox="1">
            <a:spLocks noGrp="1"/>
          </p:cNvSpPr>
          <p:nvPr>
            <p:ph type="body" idx="1"/>
          </p:nvPr>
        </p:nvSpPr>
        <p:spPr>
          <a:xfrm>
            <a:off x="4832460" y="629433"/>
            <a:ext cx="3999600" cy="341604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What is the effect of batch norm after a conv layer with a bias?</a:t>
            </a:r>
          </a:p>
          <a:p>
            <a:pPr marL="0" marR="0" lvl="0" indent="0" algn="just"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just" rtl="0">
              <a:lnSpc>
                <a:spcPct val="115000"/>
              </a:lnSpc>
              <a:spcBef>
                <a:spcPts val="0"/>
              </a:spcBef>
              <a:spcAft>
                <a:spcPts val="0"/>
              </a:spcAft>
              <a:buClr>
                <a:schemeClr val="dk2"/>
              </a:buClr>
              <a:buSzPts val="1400"/>
              <a:buFont typeface="Arial"/>
              <a:buNone/>
            </a:pPr>
            <a:r>
              <a:rPr lang="en-IN" sz="1400" b="0" i="0" u="none" strike="noStrike" cap="none" dirty="0">
                <a:solidFill>
                  <a:srgbClr val="6A6A6A"/>
                </a:solidFill>
                <a:latin typeface="Arial"/>
                <a:ea typeface="Arial"/>
                <a:cs typeface="Arial"/>
                <a:sym typeface="Arial"/>
              </a:rPr>
              <a:t>Convolution with bias simply </a:t>
            </a:r>
            <a:r>
              <a:rPr lang="en-IN" sz="1400" b="0" i="0" u="none" strike="noStrike" cap="none" dirty="0" err="1">
                <a:solidFill>
                  <a:srgbClr val="6A6A6A"/>
                </a:solidFill>
                <a:latin typeface="Arial"/>
                <a:ea typeface="Arial"/>
                <a:cs typeface="Arial"/>
                <a:sym typeface="Arial"/>
              </a:rPr>
              <a:t>aadds</a:t>
            </a:r>
            <a:r>
              <a:rPr lang="en-IN" sz="1400" b="0" i="0" u="none" strike="noStrike" cap="none" dirty="0">
                <a:solidFill>
                  <a:srgbClr val="6A6A6A"/>
                </a:solidFill>
                <a:latin typeface="Arial"/>
                <a:ea typeface="Arial"/>
                <a:cs typeface="Arial"/>
                <a:sym typeface="Arial"/>
              </a:rPr>
              <a:t> a constant per output channel y = </a:t>
            </a:r>
            <a:r>
              <a:rPr lang="en-IN" sz="1400" b="0" i="0" u="none" strike="noStrike" cap="none" dirty="0" err="1">
                <a:solidFill>
                  <a:srgbClr val="6A6A6A"/>
                </a:solidFill>
                <a:latin typeface="Arial"/>
                <a:ea typeface="Arial"/>
                <a:cs typeface="Arial"/>
                <a:sym typeface="Arial"/>
              </a:rPr>
              <a:t>Wx</a:t>
            </a:r>
            <a:r>
              <a:rPr lang="en-IN" sz="1400" b="0" i="0" u="none" strike="noStrike" cap="none" dirty="0">
                <a:solidFill>
                  <a:srgbClr val="6A6A6A"/>
                </a:solidFill>
                <a:latin typeface="Arial"/>
                <a:ea typeface="Arial"/>
                <a:cs typeface="Arial"/>
                <a:sym typeface="Arial"/>
              </a:rPr>
              <a:t>=b. Batch norm subtracts each channel’s mean over the batch. </a:t>
            </a:r>
            <a:r>
              <a:rPr lang="en-IN" sz="1400" dirty="0">
                <a:solidFill>
                  <a:srgbClr val="6A6A6A"/>
                </a:solidFill>
              </a:rPr>
              <a:t>For the entire channel, bias b is constant everywhere within so the b gets removed entirely during </a:t>
            </a:r>
            <a:r>
              <a:rPr lang="en-IN" sz="1400" dirty="0" err="1">
                <a:solidFill>
                  <a:srgbClr val="6A6A6A"/>
                </a:solidFill>
              </a:rPr>
              <a:t>batchnorm</a:t>
            </a:r>
            <a:r>
              <a:rPr lang="en-IN" sz="1400" dirty="0">
                <a:solidFill>
                  <a:srgbClr val="6A6A6A"/>
                </a:solidFill>
              </a:rPr>
              <a:t>. The output doesn’t depend on b so its gradient is zero and the layer never learns anything. </a:t>
            </a:r>
            <a:r>
              <a:rPr lang="en-IN" sz="1400" dirty="0" err="1">
                <a:solidFill>
                  <a:srgbClr val="6A6A6A"/>
                </a:solidFill>
              </a:rPr>
              <a:t>BatchNorm’s</a:t>
            </a:r>
            <a:r>
              <a:rPr lang="en-IN" sz="1400" dirty="0">
                <a:solidFill>
                  <a:srgbClr val="6A6A6A"/>
                </a:solidFill>
              </a:rPr>
              <a:t> own learnable shift B applies after normalization and shifts the output.</a:t>
            </a:r>
            <a:endParaRPr sz="1400" b="0" i="0" u="none" strike="noStrike" cap="none" dirty="0">
              <a:solidFill>
                <a:srgbClr val="6A6A6A"/>
              </a:solidFill>
              <a:latin typeface="Arial"/>
              <a:ea typeface="Arial"/>
              <a:cs typeface="Arial"/>
              <a:sym typeface="Arial"/>
            </a:endParaRPr>
          </a:p>
        </p:txBody>
      </p:sp>
      <p:pic>
        <p:nvPicPr>
          <p:cNvPr id="2" name="Picture 1" descr="Understanding Bernoulli Distribution | by Sarowar Ahmed ...">
            <a:extLst>
              <a:ext uri="{FF2B5EF4-FFF2-40B4-BE49-F238E27FC236}">
                <a16:creationId xmlns:a16="http://schemas.microsoft.com/office/drawing/2014/main" id="{E6CD3E2A-516A-1CF2-79DA-833A9FD28517}"/>
              </a:ext>
            </a:extLst>
          </p:cNvPr>
          <p:cNvPicPr>
            <a:picLocks noChangeAspect="1"/>
          </p:cNvPicPr>
          <p:nvPr/>
        </p:nvPicPr>
        <p:blipFill>
          <a:blip r:embed="rId3"/>
          <a:srcRect t="26638" b="33431"/>
          <a:stretch>
            <a:fillRect/>
          </a:stretch>
        </p:blipFill>
        <p:spPr>
          <a:xfrm>
            <a:off x="955964" y="1482436"/>
            <a:ext cx="2356407" cy="2978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5"/>
          <p:cNvSpPr txBox="1">
            <a:spLocks noGrp="1"/>
          </p:cNvSpPr>
          <p:nvPr>
            <p:ph type="title"/>
          </p:nvPr>
        </p:nvSpPr>
        <p:spPr>
          <a:xfrm>
            <a:off x="311760" y="270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ResNet</a:t>
            </a:r>
            <a:endParaRPr sz="2800" b="0" strike="noStrike" dirty="0">
              <a:solidFill>
                <a:srgbClr val="000000"/>
              </a:solidFill>
              <a:latin typeface="Arial"/>
              <a:ea typeface="Arial"/>
              <a:cs typeface="Arial"/>
              <a:sym typeface="Arial"/>
            </a:endParaRPr>
          </a:p>
        </p:txBody>
      </p:sp>
      <p:sp>
        <p:nvSpPr>
          <p:cNvPr id="123" name="Google Shape;123;p25"/>
          <p:cNvSpPr txBox="1">
            <a:spLocks noGrp="1"/>
          </p:cNvSpPr>
          <p:nvPr>
            <p:ph type="body" idx="1"/>
          </p:nvPr>
        </p:nvSpPr>
        <p:spPr>
          <a:xfrm>
            <a:off x="311760" y="589125"/>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dirty="0">
              <a:solidFill>
                <a:srgbClr val="000000"/>
              </a:solidFil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dirty="0">
              <a:solidFill>
                <a:srgbClr val="000000"/>
              </a:solidFil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87.77%</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89.47%</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82BFD32-9CCC-B78C-EE6B-92DE5DD37EE4}"/>
              </a:ext>
            </a:extLst>
          </p:cNvPr>
          <p:cNvPicPr>
            <a:picLocks noChangeAspect="1"/>
          </p:cNvPicPr>
          <p:nvPr/>
        </p:nvPicPr>
        <p:blipFill>
          <a:blip r:embed="rId3"/>
          <a:stretch>
            <a:fillRect/>
          </a:stretch>
        </p:blipFill>
        <p:spPr>
          <a:xfrm>
            <a:off x="295817" y="575100"/>
            <a:ext cx="4015543" cy="3222349"/>
          </a:xfrm>
          <a:prstGeom prst="rect">
            <a:avLst/>
          </a:prstGeom>
        </p:spPr>
      </p:pic>
      <p:pic>
        <p:nvPicPr>
          <p:cNvPr id="5" name="Picture 4">
            <a:extLst>
              <a:ext uri="{FF2B5EF4-FFF2-40B4-BE49-F238E27FC236}">
                <a16:creationId xmlns:a16="http://schemas.microsoft.com/office/drawing/2014/main" id="{215F212E-F535-065A-564A-D0A4862012DA}"/>
              </a:ext>
            </a:extLst>
          </p:cNvPr>
          <p:cNvPicPr>
            <a:picLocks noChangeAspect="1"/>
          </p:cNvPicPr>
          <p:nvPr/>
        </p:nvPicPr>
        <p:blipFill>
          <a:blip r:embed="rId4"/>
          <a:stretch>
            <a:fillRect/>
          </a:stretch>
        </p:blipFill>
        <p:spPr>
          <a:xfrm>
            <a:off x="4682305" y="589125"/>
            <a:ext cx="4324574" cy="34161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txBox="1">
            <a:spLocks noGrp="1"/>
          </p:cNvSpPr>
          <p:nvPr>
            <p:ph type="title"/>
          </p:nvPr>
        </p:nvSpPr>
        <p:spPr>
          <a:xfrm>
            <a:off x="311760" y="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ResNet</a:t>
            </a:r>
            <a:endParaRPr sz="2800" b="0" strike="noStrik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5323E0B-2A8D-F25C-43AA-D47B84FD1D1B}"/>
              </a:ext>
            </a:extLst>
          </p:cNvPr>
          <p:cNvPicPr>
            <a:picLocks noChangeAspect="1"/>
          </p:cNvPicPr>
          <p:nvPr/>
        </p:nvPicPr>
        <p:blipFill>
          <a:blip r:embed="rId3"/>
          <a:stretch>
            <a:fillRect/>
          </a:stretch>
        </p:blipFill>
        <p:spPr>
          <a:xfrm>
            <a:off x="3372615" y="0"/>
            <a:ext cx="5109698"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7"/>
          <p:cNvSpPr txBox="1">
            <a:spLocks noGrp="1"/>
          </p:cNvSpPr>
          <p:nvPr>
            <p:ph type="title"/>
          </p:nvPr>
        </p:nvSpPr>
        <p:spPr>
          <a:xfrm>
            <a:off x="311760" y="270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ResNet</a:t>
            </a:r>
            <a:endParaRPr sz="2800" b="0" strike="noStrike" dirty="0">
              <a:solidFill>
                <a:srgbClr val="000000"/>
              </a:solidFill>
              <a:latin typeface="Arial"/>
              <a:ea typeface="Arial"/>
              <a:cs typeface="Arial"/>
              <a:sym typeface="Arial"/>
            </a:endParaRPr>
          </a:p>
        </p:txBody>
      </p:sp>
      <p:sp>
        <p:nvSpPr>
          <p:cNvPr id="136" name="Google Shape;136;p27"/>
          <p:cNvSpPr txBox="1">
            <a:spLocks noGrp="1"/>
          </p:cNvSpPr>
          <p:nvPr>
            <p:ph type="body" idx="1"/>
          </p:nvPr>
        </p:nvSpPr>
        <p:spPr>
          <a:xfrm>
            <a:off x="311760" y="575100"/>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dirty="0">
                <a:solidFill>
                  <a:schemeClr val="dk2"/>
                </a:solidFill>
                <a:latin typeface="Arial"/>
                <a:ea typeface="Arial"/>
                <a:cs typeface="Arial"/>
                <a:sym typeface="Arial"/>
              </a:rPr>
              <a:t>Insert visualizations of 3 misclassified images from the most misclassified class according to your confusion matrix. Explain why this may have occurred.</a:t>
            </a:r>
            <a:endParaRPr sz="18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33A770F5-E1DB-6A0C-ED89-0F0E525FF255}"/>
              </a:ext>
            </a:extLst>
          </p:cNvPr>
          <p:cNvPicPr>
            <a:picLocks noChangeAspect="1"/>
          </p:cNvPicPr>
          <p:nvPr/>
        </p:nvPicPr>
        <p:blipFill>
          <a:blip r:embed="rId3"/>
          <a:stretch>
            <a:fillRect/>
          </a:stretch>
        </p:blipFill>
        <p:spPr>
          <a:xfrm>
            <a:off x="720762" y="1403844"/>
            <a:ext cx="7465807" cy="2335812"/>
          </a:xfrm>
          <a:prstGeom prst="rect">
            <a:avLst/>
          </a:prstGeom>
        </p:spPr>
      </p:pic>
      <p:sp>
        <p:nvSpPr>
          <p:cNvPr id="6" name="TextBox 5">
            <a:extLst>
              <a:ext uri="{FF2B5EF4-FFF2-40B4-BE49-F238E27FC236}">
                <a16:creationId xmlns:a16="http://schemas.microsoft.com/office/drawing/2014/main" id="{6FE7ED9C-F788-879D-3A39-2B446628B434}"/>
              </a:ext>
            </a:extLst>
          </p:cNvPr>
          <p:cNvSpPr txBox="1"/>
          <p:nvPr/>
        </p:nvSpPr>
        <p:spPr>
          <a:xfrm>
            <a:off x="720762" y="3765570"/>
            <a:ext cx="2474258" cy="954107"/>
          </a:xfrm>
          <a:prstGeom prst="rect">
            <a:avLst/>
          </a:prstGeom>
          <a:noFill/>
        </p:spPr>
        <p:txBody>
          <a:bodyPr wrap="square" rtlCol="0">
            <a:spAutoFit/>
          </a:bodyPr>
          <a:lstStyle/>
          <a:p>
            <a:r>
              <a:rPr lang="en-IN" dirty="0"/>
              <a:t>Model is probably confused by the fact that this sofa in the bottom right of the image looks like a bed</a:t>
            </a:r>
          </a:p>
        </p:txBody>
      </p:sp>
      <p:sp>
        <p:nvSpPr>
          <p:cNvPr id="8" name="TextBox 7">
            <a:extLst>
              <a:ext uri="{FF2B5EF4-FFF2-40B4-BE49-F238E27FC236}">
                <a16:creationId xmlns:a16="http://schemas.microsoft.com/office/drawing/2014/main" id="{E243110F-FDDD-BE52-3BDD-B94F2A158BA1}"/>
              </a:ext>
            </a:extLst>
          </p:cNvPr>
          <p:cNvSpPr txBox="1"/>
          <p:nvPr/>
        </p:nvSpPr>
        <p:spPr>
          <a:xfrm>
            <a:off x="3216536" y="3739656"/>
            <a:ext cx="2474258" cy="1169551"/>
          </a:xfrm>
          <a:prstGeom prst="rect">
            <a:avLst/>
          </a:prstGeom>
          <a:noFill/>
        </p:spPr>
        <p:txBody>
          <a:bodyPr wrap="square" rtlCol="0">
            <a:spAutoFit/>
          </a:bodyPr>
          <a:lstStyle/>
          <a:p>
            <a:r>
              <a:rPr lang="en-IN" dirty="0"/>
              <a:t>This specific shot of the living room has more of the kitchen itself in the scene which lead to the misclassification</a:t>
            </a:r>
          </a:p>
        </p:txBody>
      </p:sp>
      <p:sp>
        <p:nvSpPr>
          <p:cNvPr id="10" name="TextBox 9">
            <a:extLst>
              <a:ext uri="{FF2B5EF4-FFF2-40B4-BE49-F238E27FC236}">
                <a16:creationId xmlns:a16="http://schemas.microsoft.com/office/drawing/2014/main" id="{BD341253-2B56-D841-5E27-934DF41C32ED}"/>
              </a:ext>
            </a:extLst>
          </p:cNvPr>
          <p:cNvSpPr txBox="1"/>
          <p:nvPr/>
        </p:nvSpPr>
        <p:spPr>
          <a:xfrm>
            <a:off x="5733827" y="3657847"/>
            <a:ext cx="2474258" cy="1384995"/>
          </a:xfrm>
          <a:prstGeom prst="rect">
            <a:avLst/>
          </a:prstGeom>
          <a:noFill/>
        </p:spPr>
        <p:txBody>
          <a:bodyPr wrap="square" rtlCol="0">
            <a:spAutoFit/>
          </a:bodyPr>
          <a:lstStyle/>
          <a:p>
            <a:r>
              <a:rPr lang="en-IN" dirty="0"/>
              <a:t>I believe the misclassification here might be occurring with the look of the </a:t>
            </a:r>
            <a:r>
              <a:rPr lang="en-IN" dirty="0" err="1"/>
              <a:t>center</a:t>
            </a:r>
            <a:r>
              <a:rPr lang="en-IN" dirty="0"/>
              <a:t> table and the arm rests and legs of the couch which look more like office furniture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311760" y="270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3: ResNet</a:t>
            </a:r>
            <a:endParaRPr sz="2800" b="0" strike="noStrike" dirty="0">
              <a:solidFill>
                <a:srgbClr val="000000"/>
              </a:solidFill>
              <a:latin typeface="Arial"/>
              <a:ea typeface="Arial"/>
              <a:cs typeface="Arial"/>
              <a:sym typeface="Arial"/>
            </a:endParaRPr>
          </a:p>
        </p:txBody>
      </p:sp>
      <p:sp>
        <p:nvSpPr>
          <p:cNvPr id="142" name="Google Shape;142;p28"/>
          <p:cNvSpPr txBox="1">
            <a:spLocks noGrp="1"/>
          </p:cNvSpPr>
          <p:nvPr>
            <p:ph type="body" idx="1"/>
          </p:nvPr>
        </p:nvSpPr>
        <p:spPr>
          <a:xfrm>
            <a:off x="312121" y="67230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Fine-tuning is the specific task of modifying or updating a subset of weights of a pretrained neural network or foundational model with more generalized capabilities, towards performing a specific task or achieving a specific goal. This is done by training this largr “frozen” model on task-specific data to update those correspondig weights. </a:t>
            </a:r>
            <a:r>
              <a:rPr lang="en-US" sz="1400" b="0" i="0" u="none" strike="noStrike" cap="none" dirty="0">
                <a:solidFill>
                  <a:schemeClr val="dk2"/>
                </a:solidFill>
                <a:latin typeface="Arial"/>
                <a:ea typeface="Arial"/>
                <a:cs typeface="Arial"/>
                <a:sym typeface="Arial"/>
              </a:rPr>
              <a:t>Instead of building and training a network completely from scratch—which requires massive data and high computing costs—fine-tuning builds upon existing knowledge. This is great for saving on computational complexity, improving domain-specific accuracy and works with a much smaller pool of data.</a:t>
            </a:r>
            <a:endParaRPr sz="1400" b="0" i="0" u="none" strike="noStrike" cap="none" dirty="0">
              <a:solidFill>
                <a:srgbClr val="000000"/>
              </a:solidFill>
              <a:latin typeface="Arial"/>
              <a:ea typeface="Arial"/>
              <a:cs typeface="Arial"/>
              <a:sym typeface="Arial"/>
            </a:endParaRPr>
          </a:p>
        </p:txBody>
      </p:sp>
      <p:sp>
        <p:nvSpPr>
          <p:cNvPr id="143" name="Google Shape;143;p28"/>
          <p:cNvSpPr txBox="1">
            <a:spLocks noGrp="1"/>
          </p:cNvSpPr>
          <p:nvPr>
            <p:ph type="body" idx="1"/>
          </p:nvPr>
        </p:nvSpPr>
        <p:spPr>
          <a:xfrm>
            <a:off x="4832279" y="28890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200" b="0" i="0" u="none" strike="noStrike" cap="none" dirty="0">
                <a:solidFill>
                  <a:schemeClr val="dk2"/>
                </a:solidFill>
                <a:latin typeface="Arial"/>
                <a:ea typeface="Arial"/>
                <a:cs typeface="Arial"/>
                <a:sym typeface="Arial"/>
              </a:rPr>
              <a:t>Why do we want to "freeze" the conv layers and some of the linear layers from a pre-trained ResNet? Why can we do this?</a:t>
            </a:r>
          </a:p>
          <a:p>
            <a:pPr marL="0" marR="0" lvl="0" indent="0" algn="l" rtl="0">
              <a:lnSpc>
                <a:spcPct val="115000"/>
              </a:lnSpc>
              <a:spcBef>
                <a:spcPts val="0"/>
              </a:spcBef>
              <a:spcAft>
                <a:spcPts val="0"/>
              </a:spcAft>
              <a:buClr>
                <a:schemeClr val="dk2"/>
              </a:buClr>
              <a:buSzPts val="1400"/>
              <a:buFont typeface="Arial"/>
              <a:buNone/>
            </a:pPr>
            <a:endParaRPr lang="en" sz="2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100" dirty="0">
                <a:solidFill>
                  <a:schemeClr val="dk2"/>
                </a:solidFill>
              </a:rPr>
              <a:t>Freezing the conv layers and linear layers in the pretrained ResNet is important to reduce the risk of overfitting when we train our ~11M parameter model, with our data of only 2985 training images. This also retains the overall knowledge of the larger network and allows us to train faster and cheaper and keep learning more reliable. We are able to do this because </a:t>
            </a:r>
          </a:p>
          <a:p>
            <a:pPr marL="228600" marR="0" lvl="0" indent="-228600" algn="l" rtl="0">
              <a:lnSpc>
                <a:spcPct val="115000"/>
              </a:lnSpc>
              <a:spcBef>
                <a:spcPts val="0"/>
              </a:spcBef>
              <a:spcAft>
                <a:spcPts val="0"/>
              </a:spcAft>
              <a:buClr>
                <a:schemeClr val="dk2"/>
              </a:buClr>
              <a:buSzPct val="100000"/>
              <a:buFont typeface="Arial"/>
              <a:buAutoNum type="alphaLcPeriod"/>
            </a:pPr>
            <a:r>
              <a:rPr lang="en-IN" sz="1100" dirty="0">
                <a:solidFill>
                  <a:schemeClr val="dk2"/>
                </a:solidFill>
              </a:rPr>
              <a:t>T</a:t>
            </a:r>
            <a:r>
              <a:rPr lang="en" sz="1100" dirty="0">
                <a:solidFill>
                  <a:schemeClr val="dk2"/>
                </a:solidFill>
              </a:rPr>
              <a:t>he earlier layers have a smaller receptive field so they learn general-purpose features like edges, textures and shapes</a:t>
            </a:r>
          </a:p>
          <a:p>
            <a:pPr marL="228600" marR="0" lvl="0" indent="-228600" algn="l" rtl="0">
              <a:lnSpc>
                <a:spcPct val="115000"/>
              </a:lnSpc>
              <a:spcBef>
                <a:spcPts val="0"/>
              </a:spcBef>
              <a:spcAft>
                <a:spcPts val="0"/>
              </a:spcAft>
              <a:buClr>
                <a:schemeClr val="dk2"/>
              </a:buClr>
              <a:buSzPct val="100000"/>
              <a:buFont typeface="Arial"/>
              <a:buAutoNum type="alphaLcPeriod"/>
            </a:pPr>
            <a:r>
              <a:rPr lang="en" sz="1100" dirty="0">
                <a:solidFill>
                  <a:schemeClr val="dk2"/>
                </a:solidFill>
              </a:rPr>
              <a:t>Our scenes in the training set are natural photos like ImageNet’s so the original ResNet’s features are already separating the scene types well enough</a:t>
            </a:r>
          </a:p>
          <a:p>
            <a:pPr marL="228600" marR="0" lvl="0" indent="-228600" algn="l" rtl="0">
              <a:lnSpc>
                <a:spcPct val="115000"/>
              </a:lnSpc>
              <a:spcBef>
                <a:spcPts val="0"/>
              </a:spcBef>
              <a:spcAft>
                <a:spcPts val="0"/>
              </a:spcAft>
              <a:buClr>
                <a:schemeClr val="dk2"/>
              </a:buClr>
              <a:buSzPct val="100000"/>
              <a:buFont typeface="Arial"/>
              <a:buAutoNum type="alphaLcPeriod"/>
            </a:pPr>
            <a:r>
              <a:rPr lang="en" sz="1100" dirty="0">
                <a:solidFill>
                  <a:schemeClr val="dk2"/>
                </a:solidFill>
              </a:rPr>
              <a:t>The last classifying layer is the only thing that needs weight update specific to the training data</a:t>
            </a:r>
          </a:p>
          <a:p>
            <a:pPr marL="0" marR="0" lvl="0" indent="0" algn="l" rtl="0">
              <a:lnSpc>
                <a:spcPct val="115000"/>
              </a:lnSpc>
              <a:spcBef>
                <a:spcPts val="0"/>
              </a:spcBef>
              <a:spcAft>
                <a:spcPts val="0"/>
              </a:spcAft>
              <a:buClr>
                <a:schemeClr val="dk2"/>
              </a:buClr>
              <a:buSzPts val="1400"/>
              <a:buNone/>
            </a:pPr>
            <a:r>
              <a:rPr lang="en" sz="1100" dirty="0">
                <a:solidFill>
                  <a:schemeClr val="dk2"/>
                </a:solidFill>
              </a:rPr>
              <a:t>The tradeoff is that the frozen features cant adapt to the differences in our training data. ResNet was traind on color images and our training images are grayscale copied into 3 channels. Our training images are also indoor scene images whie ImageNet had object-focused images.</a:t>
            </a:r>
          </a:p>
          <a:p>
            <a:pPr marL="0" marR="0" lvl="0" indent="0" algn="l" rtl="0">
              <a:lnSpc>
                <a:spcPct val="115000"/>
              </a:lnSpc>
              <a:spcBef>
                <a:spcPts val="0"/>
              </a:spcBef>
              <a:spcAft>
                <a:spcPts val="0"/>
              </a:spcAft>
              <a:buClr>
                <a:schemeClr val="dk2"/>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title"/>
          </p:nvPr>
        </p:nvSpPr>
        <p:spPr>
          <a:xfrm>
            <a:off x="311760" y="0"/>
            <a:ext cx="8520120" cy="5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Font typeface="Arial"/>
              <a:buNone/>
            </a:pPr>
            <a:r>
              <a:rPr lang="en" sz="2800" b="0" strike="noStrike" dirty="0">
                <a:solidFill>
                  <a:schemeClr val="dk1"/>
                </a:solidFill>
                <a:latin typeface="Arial"/>
                <a:ea typeface="Arial"/>
                <a:cs typeface="Arial"/>
                <a:sym typeface="Arial"/>
              </a:rPr>
              <a:t>Part 4: Multi-label Scene Attributes </a:t>
            </a:r>
            <a:r>
              <a:rPr lang="en-US" sz="2800" b="0" strike="noStrike" dirty="0">
                <a:solidFill>
                  <a:schemeClr val="dk1"/>
                </a:solidFill>
                <a:latin typeface="Arial"/>
                <a:ea typeface="Arial"/>
                <a:cs typeface="Arial"/>
                <a:sym typeface="Arial"/>
              </a:rPr>
              <a:t>(Extra Credit)</a:t>
            </a:r>
            <a:endParaRPr sz="2800" b="0" strike="noStrike" dirty="0">
              <a:solidFill>
                <a:srgbClr val="000000"/>
              </a:solidFill>
              <a:latin typeface="Arial"/>
              <a:ea typeface="Arial"/>
              <a:cs typeface="Arial"/>
              <a:sym typeface="Arial"/>
            </a:endParaRPr>
          </a:p>
        </p:txBody>
      </p:sp>
      <p:sp>
        <p:nvSpPr>
          <p:cNvPr id="149" name="Google Shape;149;p29"/>
          <p:cNvSpPr txBox="1">
            <a:spLocks noGrp="1"/>
          </p:cNvSpPr>
          <p:nvPr>
            <p:ph type="body" idx="1"/>
          </p:nvPr>
        </p:nvSpPr>
        <p:spPr>
          <a:xfrm>
            <a:off x="311760" y="57240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lang="en-IN" sz="1400" dirty="0">
              <a:solidFill>
                <a:srgbClr val="000000"/>
              </a:solidFil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training accuracy: 90.42%</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Final validation accuracy: 90.23%</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BDFDA83-7E8B-3F0E-9BBC-87F7DCDA6871}"/>
              </a:ext>
            </a:extLst>
          </p:cNvPr>
          <p:cNvPicPr>
            <a:picLocks noChangeAspect="1"/>
          </p:cNvPicPr>
          <p:nvPr/>
        </p:nvPicPr>
        <p:blipFill>
          <a:blip r:embed="rId3"/>
          <a:stretch>
            <a:fillRect/>
          </a:stretch>
        </p:blipFill>
        <p:spPr>
          <a:xfrm>
            <a:off x="311760" y="572400"/>
            <a:ext cx="3292143" cy="2605087"/>
          </a:xfrm>
          <a:prstGeom prst="rect">
            <a:avLst/>
          </a:prstGeom>
        </p:spPr>
      </p:pic>
      <p:pic>
        <p:nvPicPr>
          <p:cNvPr id="5" name="Picture 4">
            <a:extLst>
              <a:ext uri="{FF2B5EF4-FFF2-40B4-BE49-F238E27FC236}">
                <a16:creationId xmlns:a16="http://schemas.microsoft.com/office/drawing/2014/main" id="{3E5119DD-E3BD-142A-68B2-648718B53835}"/>
              </a:ext>
            </a:extLst>
          </p:cNvPr>
          <p:cNvPicPr>
            <a:picLocks noChangeAspect="1"/>
          </p:cNvPicPr>
          <p:nvPr/>
        </p:nvPicPr>
        <p:blipFill>
          <a:blip r:embed="rId4"/>
          <a:stretch>
            <a:fillRect/>
          </a:stretch>
        </p:blipFill>
        <p:spPr>
          <a:xfrm>
            <a:off x="4832642" y="572400"/>
            <a:ext cx="3404046" cy="2688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311760" y="270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56" name="Google Shape;156;p30"/>
          <p:cNvSpPr txBox="1">
            <a:spLocks noGrp="1"/>
          </p:cNvSpPr>
          <p:nvPr>
            <p:ph type="body" idx="1"/>
          </p:nvPr>
        </p:nvSpPr>
        <p:spPr>
          <a:xfrm>
            <a:off x="311760" y="725640"/>
            <a:ext cx="852012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800" b="0" i="0" u="none" strike="noStrike" cap="none" dirty="0">
                <a:solidFill>
                  <a:schemeClr val="dk2"/>
                </a:solidFill>
                <a:latin typeface="Arial"/>
                <a:ea typeface="Arial"/>
                <a:cs typeface="Arial"/>
                <a:sym typeface="Arial"/>
              </a:rPr>
              <a:t>[Insert visualization of accuracy table obtained from your final MultilabelResNet model.]</a:t>
            </a:r>
          </a:p>
          <a:p>
            <a:pPr marL="0" marR="0" lvl="0" indent="0" algn="l" rtl="0">
              <a:lnSpc>
                <a:spcPct val="115000"/>
              </a:lnSpc>
              <a:spcBef>
                <a:spcPts val="0"/>
              </a:spcBef>
              <a:spcAft>
                <a:spcPts val="0"/>
              </a:spcAft>
              <a:buClr>
                <a:schemeClr val="dk2"/>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AC4B332-C772-147C-7C5A-43EE8C039ECA}"/>
              </a:ext>
            </a:extLst>
          </p:cNvPr>
          <p:cNvPicPr>
            <a:picLocks noChangeAspect="1"/>
          </p:cNvPicPr>
          <p:nvPr/>
        </p:nvPicPr>
        <p:blipFill>
          <a:blip r:embed="rId3"/>
          <a:stretch>
            <a:fillRect/>
          </a:stretch>
        </p:blipFill>
        <p:spPr>
          <a:xfrm>
            <a:off x="429577" y="1664017"/>
            <a:ext cx="8162925" cy="2333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311940" y="270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62" name="Google Shape;162;p31"/>
          <p:cNvSpPr txBox="1">
            <a:spLocks noGrp="1"/>
          </p:cNvSpPr>
          <p:nvPr>
            <p:ph type="body" idx="1"/>
          </p:nvPr>
        </p:nvSpPr>
        <p:spPr>
          <a:xfrm>
            <a:off x="311940" y="63801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List 3 changes that you made in the network compared to the one in part 3.</a:t>
            </a:r>
          </a:p>
          <a:p>
            <a:pPr marL="0" marR="0" lvl="0" indent="0" algn="l" rtl="0">
              <a:lnSpc>
                <a:spcPct val="115000"/>
              </a:lnSpc>
              <a:spcBef>
                <a:spcPts val="0"/>
              </a:spcBef>
              <a:spcAft>
                <a:spcPts val="0"/>
              </a:spcAft>
              <a:buClr>
                <a:schemeClr val="dk2"/>
              </a:buClr>
              <a:buSzPts val="1400"/>
              <a:buFont typeface="Arial"/>
              <a:buNone/>
            </a:pPr>
            <a:endParaRPr lang="en" sz="1400" dirty="0">
              <a:solidFill>
                <a:schemeClr val="dk2"/>
              </a:solidFill>
            </a:endParaRPr>
          </a:p>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rgbClr val="6A6A6A"/>
                </a:solidFill>
                <a:latin typeface="Arial"/>
                <a:ea typeface="Arial"/>
                <a:cs typeface="Arial"/>
                <a:sym typeface="Arial"/>
              </a:rPr>
              <a:t>The same pretrained ResNet 18 with all its layers is used for this part with the following three changes:</a:t>
            </a:r>
          </a:p>
          <a:p>
            <a:pPr marL="342900" marR="0" lvl="0" algn="l" rtl="0">
              <a:lnSpc>
                <a:spcPct val="115000"/>
              </a:lnSpc>
              <a:spcBef>
                <a:spcPts val="0"/>
              </a:spcBef>
              <a:spcAft>
                <a:spcPts val="0"/>
              </a:spcAft>
              <a:buClr>
                <a:schemeClr val="dk2"/>
              </a:buClr>
              <a:buSzPts val="1400"/>
              <a:buFont typeface="Arial"/>
              <a:buAutoNum type="alphaLcPeriod"/>
            </a:pPr>
            <a:r>
              <a:rPr lang="en" sz="1200" dirty="0">
                <a:solidFill>
                  <a:schemeClr val="dk2"/>
                </a:solidFill>
              </a:rPr>
              <a:t>The output size has gone from 15 to 7. The final linear layer produces one ouptut for each of the seven attributes instead of just one per scene class </a:t>
            </a:r>
          </a:p>
          <a:p>
            <a:pPr marL="342900" marR="0" lvl="0" algn="l" rtl="0">
              <a:lnSpc>
                <a:spcPct val="115000"/>
              </a:lnSpc>
              <a:spcBef>
                <a:spcPts val="0"/>
              </a:spcBef>
              <a:spcAft>
                <a:spcPts val="0"/>
              </a:spcAft>
              <a:buClr>
                <a:schemeClr val="dk2"/>
              </a:buClr>
              <a:buSzPts val="1400"/>
              <a:buFont typeface="Arial"/>
              <a:buAutoNum type="alphaLcPeriod"/>
            </a:pPr>
            <a:r>
              <a:rPr lang="en" sz="1200" dirty="0">
                <a:solidFill>
                  <a:schemeClr val="dk2"/>
                </a:solidFill>
              </a:rPr>
              <a:t>A sigmoid has also been added after the final layer so the class probabilities lie within the expected [0,1] range for the detection of specific attributes which is anchored on a robability&gt;0.5 rule </a:t>
            </a:r>
          </a:p>
          <a:p>
            <a:pPr marL="342900" marR="0" lvl="0" algn="l" rtl="0">
              <a:lnSpc>
                <a:spcPct val="115000"/>
              </a:lnSpc>
              <a:spcBef>
                <a:spcPts val="0"/>
              </a:spcBef>
              <a:spcAft>
                <a:spcPts val="0"/>
              </a:spcAft>
              <a:buClr>
                <a:schemeClr val="dk2"/>
              </a:buClr>
              <a:buSzPts val="1400"/>
              <a:buFont typeface="Arial"/>
              <a:buAutoNum type="alphaLcPeriod"/>
            </a:pPr>
            <a:r>
              <a:rPr lang="en" sz="1200" dirty="0">
                <a:solidFill>
                  <a:schemeClr val="dk2"/>
                </a:solidFill>
              </a:rPr>
              <a:t>We switched from cross entropy loss to binary cross entropy loss averaged over all 7 attributes</a:t>
            </a:r>
          </a:p>
          <a:p>
            <a:pPr marL="342900" marR="0" lvl="0" algn="l" rtl="0">
              <a:lnSpc>
                <a:spcPct val="115000"/>
              </a:lnSpc>
              <a:spcBef>
                <a:spcPts val="0"/>
              </a:spcBef>
              <a:spcAft>
                <a:spcPts val="0"/>
              </a:spcAft>
              <a:buClr>
                <a:schemeClr val="dk2"/>
              </a:buClr>
              <a:buSzPts val="1400"/>
              <a:buFont typeface="Arial"/>
              <a:buAutoNum type="alphaLcPeriod"/>
            </a:pPr>
            <a:endParaRPr sz="1400" b="0" i="0" u="none" strike="noStrike" cap="none" dirty="0">
              <a:solidFill>
                <a:srgbClr val="000000"/>
              </a:solidFill>
              <a:latin typeface="Arial"/>
              <a:ea typeface="Arial"/>
              <a:cs typeface="Arial"/>
              <a:sym typeface="Arial"/>
            </a:endParaRPr>
          </a:p>
        </p:txBody>
      </p:sp>
      <p:sp>
        <p:nvSpPr>
          <p:cNvPr id="163" name="Google Shape;163;p31"/>
          <p:cNvSpPr txBox="1">
            <a:spLocks noGrp="1"/>
          </p:cNvSpPr>
          <p:nvPr>
            <p:ph type="body" idx="1"/>
          </p:nvPr>
        </p:nvSpPr>
        <p:spPr>
          <a:xfrm>
            <a:off x="4832460" y="638010"/>
            <a:ext cx="399960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rgbClr val="6A6A6A"/>
                </a:solidFill>
                <a:latin typeface="Arial"/>
                <a:ea typeface="Arial"/>
                <a:cs typeface="Arial"/>
                <a:sym typeface="Arial"/>
              </a:rPr>
              <a:t>[Is the loss function of the ResNet model from part 3 appropriate for this problem? Why or why not?]</a:t>
            </a:r>
          </a:p>
          <a:p>
            <a:pPr marL="0" marR="0" lvl="0" indent="0" algn="l" rtl="0">
              <a:lnSpc>
                <a:spcPct val="115000"/>
              </a:lnSpc>
              <a:spcBef>
                <a:spcPts val="0"/>
              </a:spcBef>
              <a:spcAft>
                <a:spcPts val="0"/>
              </a:spcAft>
              <a:buClr>
                <a:schemeClr val="dk2"/>
              </a:buClr>
              <a:buSzPts val="1400"/>
              <a:buFont typeface="Arial"/>
              <a:buNone/>
            </a:pPr>
            <a:r>
              <a:rPr lang="en-US" sz="1200" b="0" i="0" u="none" strike="noStrike" cap="none" dirty="0">
                <a:solidFill>
                  <a:srgbClr val="6A6A6A"/>
                </a:solidFill>
                <a:latin typeface="Arial"/>
                <a:ea typeface="Arial"/>
                <a:cs typeface="Arial"/>
                <a:sym typeface="Arial"/>
              </a:rPr>
              <a:t>Cross entropy loss applies a </a:t>
            </a:r>
            <a:r>
              <a:rPr lang="en-US" sz="1200" b="0" i="0" u="none" strike="noStrike" cap="none" dirty="0" err="1">
                <a:solidFill>
                  <a:srgbClr val="6A6A6A"/>
                </a:solidFill>
                <a:latin typeface="Arial"/>
                <a:ea typeface="Arial"/>
                <a:cs typeface="Arial"/>
                <a:sym typeface="Arial"/>
              </a:rPr>
              <a:t>softmax</a:t>
            </a:r>
            <a:r>
              <a:rPr lang="en-US" sz="1200" b="0" i="0" u="none" strike="noStrike" cap="none" dirty="0">
                <a:solidFill>
                  <a:srgbClr val="6A6A6A"/>
                </a:solidFill>
                <a:latin typeface="Arial"/>
                <a:ea typeface="Arial"/>
                <a:cs typeface="Arial"/>
                <a:sym typeface="Arial"/>
              </a:rPr>
              <a:t> across the outputs, so the predicted probabilities add up to 1. That assumes exactly one correct class per image. In Part 4, an image can have several attributes at once, or none. A street scene is often man-made, has vehicles and has people. Under </a:t>
            </a:r>
            <a:r>
              <a:rPr lang="en-US" sz="1200" b="0" i="0" u="none" strike="noStrike" cap="none" dirty="0" err="1">
                <a:solidFill>
                  <a:srgbClr val="6A6A6A"/>
                </a:solidFill>
                <a:latin typeface="Arial"/>
                <a:ea typeface="Arial"/>
                <a:cs typeface="Arial"/>
                <a:sym typeface="Arial"/>
              </a:rPr>
              <a:t>softmax</a:t>
            </a:r>
            <a:r>
              <a:rPr lang="en-US" sz="1200" b="0" i="0" u="none" strike="noStrike" cap="none" dirty="0">
                <a:solidFill>
                  <a:srgbClr val="6A6A6A"/>
                </a:solidFill>
                <a:latin typeface="Arial"/>
                <a:ea typeface="Arial"/>
                <a:cs typeface="Arial"/>
                <a:sym typeface="Arial"/>
              </a:rPr>
              <a:t>, raising the probability for "people" forces the others down, so the model can't say yes to all three.</a:t>
            </a:r>
          </a:p>
          <a:p>
            <a:pPr marL="0" marR="0" lvl="0" indent="0" algn="l" rtl="0">
              <a:lnSpc>
                <a:spcPct val="115000"/>
              </a:lnSpc>
              <a:spcBef>
                <a:spcPts val="0"/>
              </a:spcBef>
              <a:spcAft>
                <a:spcPts val="0"/>
              </a:spcAft>
              <a:buClr>
                <a:schemeClr val="dk2"/>
              </a:buClr>
              <a:buSzPts val="1400"/>
              <a:buFont typeface="Arial"/>
              <a:buNone/>
            </a:pPr>
            <a:r>
              <a:rPr lang="en-US" sz="1200" b="0" i="0" u="none" strike="noStrike" cap="none" dirty="0">
                <a:solidFill>
                  <a:srgbClr val="6A6A6A"/>
                </a:solidFill>
                <a:latin typeface="Arial"/>
                <a:ea typeface="Arial"/>
                <a:cs typeface="Arial"/>
                <a:sym typeface="Arial"/>
              </a:rPr>
              <a:t>Cross-entropy also expects one class index per image as the target, while each label here is a vector of 7 zeros and ones.</a:t>
            </a:r>
          </a:p>
          <a:p>
            <a:pPr marL="0" marR="0" lvl="0" indent="0" algn="l" rtl="0">
              <a:lnSpc>
                <a:spcPct val="115000"/>
              </a:lnSpc>
              <a:spcBef>
                <a:spcPts val="0"/>
              </a:spcBef>
              <a:spcAft>
                <a:spcPts val="0"/>
              </a:spcAft>
              <a:buClr>
                <a:schemeClr val="dk2"/>
              </a:buClr>
              <a:buSzPts val="1400"/>
              <a:buFont typeface="Arial"/>
              <a:buNone/>
            </a:pPr>
            <a:r>
              <a:rPr lang="en-US" sz="1200" b="0" i="0" u="none" strike="noStrike" cap="none" dirty="0">
                <a:solidFill>
                  <a:srgbClr val="6A6A6A"/>
                </a:solidFill>
                <a:latin typeface="Arial"/>
                <a:ea typeface="Arial"/>
                <a:cs typeface="Arial"/>
                <a:sym typeface="Arial"/>
              </a:rPr>
              <a:t>Sigmoid with BCE treats each attribute as its own yes/no question, which matches the problem.</a:t>
            </a:r>
          </a:p>
          <a:p>
            <a:pPr marL="0" marR="0" lvl="0" indent="0" algn="l" rtl="0">
              <a:lnSpc>
                <a:spcPct val="115000"/>
              </a:lnSpc>
              <a:spcBef>
                <a:spcPts val="0"/>
              </a:spcBef>
              <a:spcAft>
                <a:spcPts val="0"/>
              </a:spcAft>
              <a:buClr>
                <a:schemeClr val="dk2"/>
              </a:buClr>
              <a:buSzPts val="1400"/>
              <a:buFont typeface="Arial"/>
              <a:buNone/>
            </a:pPr>
            <a:endParaRPr sz="1400" b="0" i="0" u="none" strike="noStrike" cap="none" dirty="0">
              <a:solidFill>
                <a:srgbClr val="6A6A6A"/>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a:off x="311940" y="2700"/>
            <a:ext cx="8520120" cy="572400"/>
          </a:xfrm>
          <a:prstGeom prst="rect">
            <a:avLst/>
          </a:prstGeom>
          <a:noFill/>
          <a:ln>
            <a:noFill/>
          </a:ln>
        </p:spPr>
        <p:txBody>
          <a:bodyPr spcFirstLastPara="1" wrap="square" lIns="91425" tIns="91425" rIns="91425" bIns="91425" anchor="t" anchorCtr="0">
            <a:noAutofit/>
          </a:bodyPr>
          <a:lstStyle/>
          <a:p>
            <a:pPr lvl="0">
              <a:lnSpc>
                <a:spcPct val="100000"/>
              </a:lnSpc>
              <a:buSzPts val="2800"/>
            </a:pPr>
            <a:r>
              <a:rPr lang="en" sz="2800" b="0" strike="noStrike" dirty="0">
                <a:solidFill>
                  <a:schemeClr val="dk1"/>
                </a:solidFill>
                <a:latin typeface="Arial"/>
                <a:ea typeface="Arial"/>
                <a:cs typeface="Arial"/>
                <a:sym typeface="Arial"/>
              </a:rPr>
              <a:t>Part 4: Multi-label Scene Attributes </a:t>
            </a:r>
            <a:r>
              <a:rPr lang="en-US" sz="2800" dirty="0"/>
              <a:t>(Extra Credit)</a:t>
            </a:r>
            <a:endParaRPr sz="2800" b="0" strike="noStrike" dirty="0">
              <a:solidFill>
                <a:srgbClr val="000000"/>
              </a:solidFill>
              <a:latin typeface="Arial"/>
              <a:ea typeface="Arial"/>
              <a:cs typeface="Arial"/>
              <a:sym typeface="Arial"/>
            </a:endParaRPr>
          </a:p>
        </p:txBody>
      </p:sp>
      <p:sp>
        <p:nvSpPr>
          <p:cNvPr id="169" name="Google Shape;169;p32"/>
          <p:cNvSpPr txBox="1">
            <a:spLocks noGrp="1"/>
          </p:cNvSpPr>
          <p:nvPr>
            <p:ph type="body" idx="1"/>
          </p:nvPr>
        </p:nvSpPr>
        <p:spPr>
          <a:xfrm>
            <a:off x="311940" y="575100"/>
            <a:ext cx="8201880" cy="341604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400"/>
              <a:buFont typeface="Arial"/>
              <a:buNone/>
            </a:pPr>
            <a:r>
              <a:rPr lang="en" sz="1400" b="0" i="0" u="none" strike="noStrike" cap="none" dirty="0">
                <a:solidFill>
                  <a:schemeClr val="dk2"/>
                </a:solidFill>
                <a:latin typeface="Arial"/>
                <a:ea typeface="Arial"/>
                <a:cs typeface="Arial"/>
                <a:sym typeface="Arial"/>
              </a:rPr>
              <a:t>Explain a problem that one needs to be wary of with multilabel classification. HINT: consider the purpose of visualizing your results with the accuracy table. You might want to do some data exploration here.</a:t>
            </a:r>
          </a:p>
          <a:p>
            <a:pPr marL="0" marR="0" lvl="0" indent="0" algn="just" rtl="0">
              <a:lnSpc>
                <a:spcPct val="115000"/>
              </a:lnSpc>
              <a:spcBef>
                <a:spcPts val="0"/>
              </a:spcBef>
              <a:spcAft>
                <a:spcPts val="0"/>
              </a:spcAft>
              <a:buClr>
                <a:schemeClr val="dk2"/>
              </a:buClr>
              <a:buSzPts val="1400"/>
              <a:buFont typeface="Arial"/>
              <a:buNone/>
            </a:pPr>
            <a:r>
              <a:rPr lang="en-US" sz="1100" kern="1200" dirty="0">
                <a:solidFill>
                  <a:srgbClr val="6A6A6A"/>
                </a:solidFill>
                <a:latin typeface="+mn-lt"/>
                <a:ea typeface="+mn-ea"/>
                <a:cs typeface="+mn-cs"/>
              </a:rPr>
              <a:t>A key pitfall in multilabel classification is class imbalance, which makes overall accuracy misleading. Exploring the attribute labels for the five scene classes shows how skewed they are. Animals appear in only 1.2% of test images (2.6% of training images), and people appear in 16.6%. A model that always predicts "no animals" would score 99% on that attribute without ever detecting one, and always predicting "no people" would score 88%. Averaged over all seven attributes, always guessing the more common answer already reaches about 69% accuracy without looking at the images. Because the trainer's accuracy averages over every image–attribute pair, a high overall number like our 90%+ can hide a model that simply ignores rare attributes. This is why the per-attribute accuracy table is useful: each attribute's accuracy should be compared against its own baseline, and for rare attributes, precision and recall (or F1) are more informative than accuracy.</a:t>
            </a:r>
          </a:p>
          <a:p>
            <a:pPr marL="0" marR="0" lvl="0" indent="0" algn="just" rtl="0">
              <a:lnSpc>
                <a:spcPct val="115000"/>
              </a:lnSpc>
              <a:spcBef>
                <a:spcPts val="0"/>
              </a:spcBef>
              <a:spcAft>
                <a:spcPts val="0"/>
              </a:spcAft>
              <a:buClr>
                <a:schemeClr val="dk2"/>
              </a:buClr>
              <a:buSzPts val="1400"/>
              <a:buFont typeface="Arial"/>
              <a:buNone/>
            </a:pPr>
            <a:endParaRPr lang="en-US" sz="1100" kern="1200" dirty="0">
              <a:solidFill>
                <a:srgbClr val="6A6A6A"/>
              </a:solidFill>
              <a:latin typeface="+mn-lt"/>
              <a:ea typeface="+mn-ea"/>
              <a:cs typeface="+mn-cs"/>
            </a:endParaRPr>
          </a:p>
          <a:p>
            <a:pPr marL="0" marR="0" lvl="0" indent="0" algn="just" rtl="0">
              <a:lnSpc>
                <a:spcPct val="115000"/>
              </a:lnSpc>
              <a:spcBef>
                <a:spcPts val="0"/>
              </a:spcBef>
              <a:spcAft>
                <a:spcPts val="0"/>
              </a:spcAft>
              <a:buClr>
                <a:schemeClr val="dk2"/>
              </a:buClr>
              <a:buSzPts val="1400"/>
              <a:buFont typeface="Arial"/>
              <a:buNone/>
            </a:pPr>
            <a:r>
              <a:rPr lang="en-US" sz="1100" kern="1200" dirty="0">
                <a:solidFill>
                  <a:srgbClr val="6A6A6A"/>
                </a:solidFill>
                <a:latin typeface="+mn-lt"/>
                <a:ea typeface="+mn-ea"/>
                <a:cs typeface="+mn-cs"/>
              </a:rPr>
              <a:t>The labels also pose a second problem: they are strongly tied to scene type and shift between splits. Highway and street images are 100% man-made and 0% natural, every coast image contains water, and roughly 90% of highway and street images contain vehicles. The model can therefore score well by recognizing the scene category and inferring its typical attributes, rather than detecting each attribute in the image. The positive rates also differ between training and test: natural drops from 69.6% to 57.8% and vehicles rise from 31.7% to 43.2%. That can make the model favor answers that are common in training but less so at test time. Remedies include weighting positive examples more heavily in the loss, tuning a separate decision threshold for each attribute, and reporting per-attribute metrics instead of a single overall accuracy.</a:t>
            </a:r>
            <a:endParaRPr sz="1100" kern="1200" dirty="0">
              <a:solidFill>
                <a:srgbClr val="6A6A6A"/>
              </a:solidFill>
              <a:latin typeface="+mn-lt"/>
              <a:ea typeface="+mn-ea"/>
              <a:cs typeface="+mn-c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1549</TotalTime>
  <Words>1704</Words>
  <Application>Microsoft Office PowerPoint</Application>
  <PresentationFormat>On-screen Show (16:9)</PresentationFormat>
  <Paragraphs>155</Paragraphs>
  <Slides>14</Slides>
  <Notes>14</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14</vt:i4>
      </vt:variant>
    </vt:vector>
  </HeadingPairs>
  <TitlesOfParts>
    <vt:vector size="20" baseType="lpstr">
      <vt:lpstr>Arial</vt:lpstr>
      <vt:lpstr>Times New Roman</vt:lpstr>
      <vt:lpstr>Simple Light</vt:lpstr>
      <vt:lpstr>Simple Light</vt:lpstr>
      <vt:lpstr>Simple Light</vt:lpstr>
      <vt:lpstr>Simple Light</vt:lpstr>
      <vt:lpstr>CS 6476 Project 3</vt:lpstr>
      <vt:lpstr>Part 1: SimpleNet</vt:lpstr>
      <vt:lpstr>Part 2: SimpleNetFinal</vt:lpstr>
      <vt:lpstr>Part 2: SimpleNetFinal</vt:lpstr>
      <vt:lpstr>Part 2: SimpleNetFinal</vt:lpstr>
      <vt:lpstr>Part 2: SimpleNetFinal</vt:lpstr>
      <vt:lpstr>Part 3: ResNet</vt:lpstr>
      <vt:lpstr>Part 3: ResNet</vt:lpstr>
      <vt:lpstr>Part 3: ResNet</vt:lpstr>
      <vt:lpstr>Part 3: ResNet</vt:lpstr>
      <vt:lpstr>Part 4: Multi-label Scene Attributes (Extra Credit)</vt:lpstr>
      <vt:lpstr>Part 4: Multi-label Scene Attributes (Extra Credit)</vt:lpstr>
      <vt:lpstr>Part 4: Multi-label Scene Attributes (Extra Credit)</vt:lpstr>
      <vt:lpstr>Part 4: Multi-label Scene Attributes (Extra Credit)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Shruti Jeyaraman</cp:lastModifiedBy>
  <cp:revision>11</cp:revision>
  <dcterms:modified xsi:type="dcterms:W3CDTF">2026-10-15T21:54:13Z</dcterms:modified>
</cp:coreProperties>
</file>